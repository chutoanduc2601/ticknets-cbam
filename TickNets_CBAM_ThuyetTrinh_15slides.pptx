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B6B3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SE</c:v>
                </c:pt>
                <c:pt idx="1">
                  <c:v>Local</c:v>
                </c:pt>
                <c:pt idx="2">
                  <c:v>Hook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93.04</c:v>
                </c:pt>
                <c:pt idx="1">
                  <c:v>93.4</c:v>
                </c:pt>
                <c:pt idx="2">
                  <c:v>93.68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A0-466B-B045-8A4ACA8D23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F2C94C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SE</c:v>
                </c:pt>
                <c:pt idx="1">
                  <c:v>Local</c:v>
                </c:pt>
                <c:pt idx="2">
                  <c:v>Hook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93.03</c:v>
                </c:pt>
                <c:pt idx="1">
                  <c:v>93.41</c:v>
                </c:pt>
                <c:pt idx="2">
                  <c:v>93.68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A0-466B-B045-8A4ACA8D23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4"/>
          <c:min val="92.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B6B3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SE</c:v>
                </c:pt>
                <c:pt idx="1">
                  <c:v>Local</c:v>
                </c:pt>
                <c:pt idx="2">
                  <c:v>Hook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98.41</c:v>
                </c:pt>
                <c:pt idx="1">
                  <c:v>97.78</c:v>
                </c:pt>
                <c:pt idx="2">
                  <c:v>98.68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19-41BD-A140-806117580B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F2C94C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SE</c:v>
                </c:pt>
                <c:pt idx="1">
                  <c:v>Local</c:v>
                </c:pt>
                <c:pt idx="2">
                  <c:v>Hook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97.58</c:v>
                </c:pt>
                <c:pt idx="1">
                  <c:v>96.84</c:v>
                </c:pt>
                <c:pt idx="2">
                  <c:v>97.96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19-41BD-A140-806117580B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9"/>
          <c:min val="96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7927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Trang bìa: giới thiệu tên đề tài, sinh viên, MSSV và giảng viên hướng dẫn.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Nêu bối cảnh: phân loại ảnh quan trọng; TickNets nhẹ nhưng mới dùng SE, nên đề tài nghiên cứu CBAM để bổ sung chú ý không gian.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Trình bày các mục tiêu: đề xuất kiến trúc CBAM-Hook, xây dựng mô hình đối chứng, huấn luyện và đánh giá trên hai bộ dữ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Giải thích bài toán phân loại ảnh và những ứng dụng đề tài hướng đến, nhấn mạnh thiết bị biên và bệnh lá cây.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Giới thiệu kiến trúc nền TickNet-small, khối FR-PDP và cách hai backbone hình dấu tích được ghép nối.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Phân biệt SE và CBAM: SE chỉ hiệu chỉnh kênh, CBAM bổ sung SAM để điều chỉnh không gian.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Giải thích lý do cần CBAM-Hook: nếu thay SE bằng CBAM trong từng khối, SAM có thể chồng chéo với DWConv.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Trình bày kiến trúc đề xuất và luồng xử lý chính của TickNet-small CBAM-Hook.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 sánh ba biến thể đối chứng và số lượng tham số tương ứng trên hai bộ dữ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Trình bày dữ liệu và môi trường triển khai thực nghiệm: CIFAR-10, PlantVillage, PyTorch, Kaggle và GPU T4.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Nêu cấu hình huấn luyện, optimizer, scheduler, early stopping và các độ đo đánh giá.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Trình bày bảng kết quả, biểu đồ Accuracy/F1, ROC và Confusion Matrix minh họa trên CIFAR-10.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Trình bày kết quả trên PlantVillage: CBAM-Hook đạt cao nhất, còn CBAM-Local giảm so với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 sánh bản đồ nhiệt Grad-CAM của ba mô hình trên CIFAR-10 và PlantVillage; nhấn mạnh Grad-CAM chỉ hỗ trợ giải thích.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Tổng kết các kết quả chính, nêu hạn chế và hướng phát triển phù hợp với nội dung báo cáo.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3" name="Image 0" descr="/mnt/data/v5_extract/word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57200"/>
            <a:ext cx="1051560" cy="1051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58521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TIỂU LUẬN TỐT NGHIỆP</a:t>
            </a:r>
            <a:endParaRPr lang="en-US" sz="1600"/>
          </a:p>
        </p:txBody>
      </p:sp>
      <p:sp>
        <p:nvSpPr>
          <p:cNvPr id="5" name="Text 2"/>
          <p:cNvSpPr/>
          <p:nvPr/>
        </p:nvSpPr>
        <p:spPr>
          <a:xfrm>
            <a:off x="2191790" y="1861635"/>
            <a:ext cx="8549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3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NGHIÊN CỨU CẢI TIẾN</a:t>
            </a:r>
            <a:r>
              <a:rPr lang="en-US" sz="3500"/>
              <a:t> </a:t>
            </a:r>
            <a:r>
              <a:rPr lang="en-US" sz="3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TICKNETS BẰNG CƠ CHẾ ATTENTION CBAM CHO BÀI TOÁN PHÂN LOẠI ẢNH</a:t>
            </a:r>
            <a:endParaRPr lang="en-US" sz="3500"/>
          </a:p>
        </p:txBody>
      </p:sp>
      <p:sp>
        <p:nvSpPr>
          <p:cNvPr id="6" name="Text 3"/>
          <p:cNvSpPr/>
          <p:nvPr/>
        </p:nvSpPr>
        <p:spPr>
          <a:xfrm>
            <a:off x="6733308" y="3921297"/>
            <a:ext cx="4544292" cy="19082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Sinh viên: Chu Toàn Đức</a:t>
            </a:r>
            <a:endParaRPr lang="en-US" sz="2000" b="1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MSSV: 22130047</a:t>
            </a:r>
            <a:endParaRPr lang="en-US" sz="2000" b="1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GVHD: </a:t>
            </a:r>
            <a:r>
              <a:rPr lang="en-US" sz="2000" b="1" err="1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Thầy</a:t>
            </a:r>
            <a:r>
              <a:rPr lang="en-US" sz="2000" b="1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 Nguyễn Văn </a:t>
            </a:r>
            <a:r>
              <a:rPr lang="en-US" sz="2000" b="1" err="1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Dũ</a:t>
            </a:r>
            <a:endParaRPr lang="en-US" sz="2000" b="1">
              <a:solidFill>
                <a:srgbClr val="FFFFFF"/>
              </a:solidFill>
              <a:latin typeface="+mj-lt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>
                <a:solidFill>
                  <a:schemeClr val="bg1"/>
                </a:solidFill>
                <a:latin typeface="+mj-lt"/>
              </a:rPr>
              <a:t>GVPB: </a:t>
            </a:r>
            <a:r>
              <a:rPr lang="en-US" sz="2000" b="1" err="1">
                <a:solidFill>
                  <a:schemeClr val="bg1"/>
                </a:solidFill>
                <a:latin typeface="+mj-lt"/>
              </a:rPr>
              <a:t>Thầy</a:t>
            </a:r>
            <a:r>
              <a:rPr lang="en-US" sz="2000" b="1">
                <a:solidFill>
                  <a:schemeClr val="bg1"/>
                </a:solidFill>
                <a:latin typeface="+mj-lt"/>
              </a:rPr>
              <a:t> Võ </a:t>
            </a:r>
            <a:r>
              <a:rPr lang="en-US" sz="2000" b="1" err="1">
                <a:solidFill>
                  <a:schemeClr val="bg1"/>
                </a:solidFill>
                <a:latin typeface="+mj-lt"/>
              </a:rPr>
              <a:t>Tấn</a:t>
            </a:r>
            <a:r>
              <a:rPr lang="en-US" sz="2000" b="1">
                <a:solidFill>
                  <a:schemeClr val="bg1"/>
                </a:solidFill>
                <a:latin typeface="+mj-lt"/>
              </a:rPr>
              <a:t> </a:t>
            </a:r>
            <a:r>
              <a:rPr lang="en-US" sz="2000" b="1" err="1">
                <a:solidFill>
                  <a:schemeClr val="bg1"/>
                </a:solidFill>
                <a:latin typeface="+mj-lt"/>
              </a:rPr>
              <a:t>Toàn</a:t>
            </a:r>
            <a:endParaRPr lang="en-US" sz="20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Text 4"/>
          <p:cNvSpPr/>
          <p:nvPr/>
        </p:nvSpPr>
        <p:spPr>
          <a:xfrm>
            <a:off x="7557654" y="58521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000">
                <a:solidFill>
                  <a:srgbClr val="DCEF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Trường Đại học Nông Lâm TP.HCM</a:t>
            </a:r>
            <a:endParaRPr lang="en-US" sz="2000"/>
          </a:p>
          <a:p>
            <a:pPr marL="0" indent="0" algn="r">
              <a:buNone/>
            </a:pPr>
            <a:r>
              <a:rPr lang="en-US" sz="2000">
                <a:solidFill>
                  <a:srgbClr val="DCEF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Khoa Công nghệ Thông tin</a:t>
            </a:r>
            <a:endParaRPr lang="en-US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Lý do chọn đề tài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loại ảnh cần mô hình vừa chính xác vừa gọn nhẹ cho thiết bị tài nguyên hạn chế.</a:t>
            </a:r>
            <a:endParaRPr lang="en-US" sz="115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965960" cy="0"/>
          </a:xfrm>
          <a:prstGeom prst="line">
            <a:avLst/>
          </a:prstGeom>
          <a:noFill/>
          <a:ln w="381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11448288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502920" y="6565392"/>
            <a:ext cx="10789920" cy="0"/>
          </a:xfrm>
          <a:prstGeom prst="line">
            <a:avLst/>
          </a:prstGeom>
          <a:noFill/>
          <a:ln w="7620">
            <a:solidFill>
              <a:srgbClr val="D4DED9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Text 5"/>
          <p:cNvSpPr/>
          <p:nvPr/>
        </p:nvSpPr>
        <p:spPr>
          <a:xfrm>
            <a:off x="594360" y="1417319"/>
            <a:ext cx="5760720" cy="4650971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9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 Phân loại hình ảnh là bài toán nền tảng trong thị  giác máy tính, có nhiều ứng dụng thực tiễn.</a:t>
            </a:r>
            <a:endParaRPr lang="en-US" sz="190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9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 TickNets là kiến trúc CNN siêu nhẹ dựa trên khối FR-PDP và xương sống tick-shape.</a:t>
            </a:r>
            <a:endParaRPr lang="en-US" sz="190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9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 TickNets gốc sử dụng SE theo kênh trong mỗi khối FR-PDP, chưa khai thác đầy đủ chú ý không gian như CBAM.</a:t>
            </a:r>
            <a:endParaRPr lang="en-US" sz="190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9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 Đề tài khảo sát chiến lược tích hợp CBAM vào TickNet-small để cải thiện hiệu quả phân loại ảnh.</a:t>
            </a:r>
            <a:endParaRPr lang="en-US" sz="1900"/>
          </a:p>
        </p:txBody>
      </p:sp>
      <p:sp>
        <p:nvSpPr>
          <p:cNvPr id="8" name="Text 6"/>
          <p:cNvSpPr/>
          <p:nvPr/>
        </p:nvSpPr>
        <p:spPr>
          <a:xfrm>
            <a:off x="6903720" y="1700784"/>
            <a:ext cx="1417320" cy="4206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60.000</a:t>
            </a:r>
            <a:endParaRPr lang="en-US" sz="2700"/>
          </a:p>
        </p:txBody>
      </p:sp>
      <p:sp>
        <p:nvSpPr>
          <p:cNvPr id="9" name="Text 7"/>
          <p:cNvSpPr/>
          <p:nvPr/>
        </p:nvSpPr>
        <p:spPr>
          <a:xfrm>
            <a:off x="6903720" y="2121408"/>
            <a:ext cx="1417320" cy="2926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CIFAR-10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6903720" y="2423160"/>
            <a:ext cx="1417320" cy="274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latin typeface="Arial" pitchFamily="34" charset="0"/>
                <a:ea typeface="Arial" pitchFamily="34" charset="-122"/>
                <a:cs typeface="Arial" pitchFamily="34" charset="-120"/>
              </a:rPr>
              <a:t>ảnh RGB, 10 lớp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8549640" y="1700784"/>
            <a:ext cx="1600200" cy="4206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54.305</a:t>
            </a:r>
            <a:endParaRPr lang="en-US" sz="2700"/>
          </a:p>
        </p:txBody>
      </p:sp>
      <p:sp>
        <p:nvSpPr>
          <p:cNvPr id="12" name="Text 10"/>
          <p:cNvSpPr/>
          <p:nvPr/>
        </p:nvSpPr>
        <p:spPr>
          <a:xfrm>
            <a:off x="8549640" y="2121408"/>
            <a:ext cx="1600200" cy="2926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PlantVillage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8549640" y="2423160"/>
            <a:ext cx="1600200" cy="274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latin typeface="Arial" pitchFamily="34" charset="0"/>
                <a:ea typeface="Arial" pitchFamily="34" charset="-122"/>
                <a:cs typeface="Arial" pitchFamily="34" charset="-120"/>
              </a:rPr>
              <a:t>ảnh lá cây, 38 lớp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10469879" y="1700784"/>
            <a:ext cx="1232593" cy="4206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700" b="1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b="1">
              <a:ln/>
              <a:solidFill>
                <a:schemeClr val="accent3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469879" y="2121408"/>
            <a:ext cx="1232593" cy="2926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khảo sát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10469879" y="2423160"/>
            <a:ext cx="1232593" cy="274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latin typeface="Arial" pitchFamily="34" charset="0"/>
                <a:ea typeface="Arial" pitchFamily="34" charset="-122"/>
                <a:cs typeface="Arial" pitchFamily="34" charset="-120"/>
              </a:rPr>
              <a:t>SE, Local, Hook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7779258" y="4078224"/>
            <a:ext cx="128016" cy="0"/>
          </a:xfrm>
          <a:prstGeom prst="line">
            <a:avLst/>
          </a:prstGeom>
          <a:noFill/>
          <a:ln w="20320">
            <a:solidFill>
              <a:srgbClr val="064E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18" name="Shape 16"/>
          <p:cNvSpPr/>
          <p:nvPr/>
        </p:nvSpPr>
        <p:spPr>
          <a:xfrm>
            <a:off x="9011412" y="4078224"/>
            <a:ext cx="128016" cy="0"/>
          </a:xfrm>
          <a:prstGeom prst="line">
            <a:avLst/>
          </a:prstGeom>
          <a:noFill/>
          <a:ln w="20320">
            <a:solidFill>
              <a:srgbClr val="064E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19" name="Shape 17"/>
          <p:cNvSpPr/>
          <p:nvPr/>
        </p:nvSpPr>
        <p:spPr>
          <a:xfrm>
            <a:off x="10243566" y="4078224"/>
            <a:ext cx="128016" cy="0"/>
          </a:xfrm>
          <a:prstGeom prst="line">
            <a:avLst/>
          </a:prstGeom>
          <a:noFill/>
          <a:ln w="20320">
            <a:solidFill>
              <a:srgbClr val="064E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20" name="Shape 18"/>
          <p:cNvSpPr/>
          <p:nvPr/>
        </p:nvSpPr>
        <p:spPr>
          <a:xfrm>
            <a:off x="6773856" y="3227831"/>
            <a:ext cx="1330890" cy="1304266"/>
          </a:xfrm>
          <a:prstGeom prst="roundRect">
            <a:avLst>
              <a:gd name="adj" fmla="val 5435"/>
            </a:avLst>
          </a:prstGeom>
          <a:solidFill>
            <a:srgbClr val="DCEFE5"/>
          </a:solidFill>
          <a:ln w="12700">
            <a:solidFill>
              <a:srgbClr val="0B6B3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1" name="Text 19"/>
          <p:cNvSpPr/>
          <p:nvPr/>
        </p:nvSpPr>
        <p:spPr>
          <a:xfrm>
            <a:off x="6819575" y="3323879"/>
            <a:ext cx="1220671" cy="116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siêu nhẹ</a:t>
            </a:r>
            <a:endParaRPr lang="en-US" sz="1250"/>
          </a:p>
        </p:txBody>
      </p:sp>
      <p:sp>
        <p:nvSpPr>
          <p:cNvPr id="22" name="Shape 20"/>
          <p:cNvSpPr/>
          <p:nvPr/>
        </p:nvSpPr>
        <p:spPr>
          <a:xfrm>
            <a:off x="8006010" y="3227831"/>
            <a:ext cx="1330890" cy="1304266"/>
          </a:xfrm>
          <a:prstGeom prst="roundRect">
            <a:avLst>
              <a:gd name="adj" fmla="val 5435"/>
            </a:avLst>
          </a:prstGeom>
          <a:solidFill>
            <a:srgbClr val="DCEFE5"/>
          </a:solidFill>
          <a:ln w="12700">
            <a:solidFill>
              <a:srgbClr val="0B6B3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3" name="Text 21"/>
          <p:cNvSpPr/>
          <p:nvPr/>
        </p:nvSpPr>
        <p:spPr>
          <a:xfrm>
            <a:off x="8051729" y="3323879"/>
            <a:ext cx="1220671" cy="116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theo kênh</a:t>
            </a:r>
            <a:endParaRPr lang="en-US" sz="1250"/>
          </a:p>
        </p:txBody>
      </p:sp>
      <p:sp>
        <p:nvSpPr>
          <p:cNvPr id="24" name="Shape 22"/>
          <p:cNvSpPr/>
          <p:nvPr/>
        </p:nvSpPr>
        <p:spPr>
          <a:xfrm>
            <a:off x="9238164" y="3227831"/>
            <a:ext cx="1330890" cy="1304266"/>
          </a:xfrm>
          <a:prstGeom prst="roundRect">
            <a:avLst>
              <a:gd name="adj" fmla="val 5435"/>
            </a:avLst>
          </a:prstGeom>
          <a:solidFill>
            <a:srgbClr val="FFF4CC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5" name="Text 23"/>
          <p:cNvSpPr/>
          <p:nvPr/>
        </p:nvSpPr>
        <p:spPr>
          <a:xfrm>
            <a:off x="9283883" y="3323879"/>
            <a:ext cx="1220671" cy="116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 thêm không gian</a:t>
            </a:r>
            <a:endParaRPr lang="en-US" sz="1250"/>
          </a:p>
        </p:txBody>
      </p:sp>
      <p:sp>
        <p:nvSpPr>
          <p:cNvPr id="26" name="Shape 24"/>
          <p:cNvSpPr/>
          <p:nvPr/>
        </p:nvSpPr>
        <p:spPr>
          <a:xfrm>
            <a:off x="10470318" y="3227831"/>
            <a:ext cx="1330890" cy="1304266"/>
          </a:xfrm>
          <a:prstGeom prst="roundRect">
            <a:avLst>
              <a:gd name="adj" fmla="val 5435"/>
            </a:avLst>
          </a:prstGeom>
          <a:solidFill>
            <a:srgbClr val="E7F6F8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7" name="Text 25"/>
          <p:cNvSpPr/>
          <p:nvPr/>
        </p:nvSpPr>
        <p:spPr>
          <a:xfrm>
            <a:off x="10516037" y="3323879"/>
            <a:ext cx="1220671" cy="116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Chiến lược chèn hợp lý?</a:t>
            </a:r>
            <a:endParaRPr lang="en-US" sz="1250"/>
          </a:p>
        </p:txBody>
      </p:sp>
      <p:sp>
        <p:nvSpPr>
          <p:cNvPr id="28" name="Text 26"/>
          <p:cNvSpPr/>
          <p:nvPr/>
        </p:nvSpPr>
        <p:spPr>
          <a:xfrm>
            <a:off x="7050900" y="4773167"/>
            <a:ext cx="45720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điệp: vấn đề không chỉ là thêm CBAM, mà là chèn CBAM ở vị trí phù hợp trong TickNet-small.</a:t>
            </a:r>
            <a:endParaRPr lang="en-US" sz="15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đề tài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Cải tiến TickNet-small bằng CBAM và đánh giá bằng thực nghiệm đối chứng.</a:t>
            </a:r>
            <a:endParaRPr lang="en-US" sz="115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965960" cy="0"/>
          </a:xfrm>
          <a:prstGeom prst="line">
            <a:avLst/>
          </a:prstGeom>
          <a:noFill/>
          <a:ln w="381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11448288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502920" y="6565392"/>
            <a:ext cx="10789920" cy="0"/>
          </a:xfrm>
          <a:prstGeom prst="line">
            <a:avLst/>
          </a:prstGeom>
          <a:noFill/>
          <a:ln w="7620">
            <a:solidFill>
              <a:srgbClr val="D4DED9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Shape 5"/>
          <p:cNvSpPr/>
          <p:nvPr/>
        </p:nvSpPr>
        <p:spPr>
          <a:xfrm>
            <a:off x="2754173" y="2080260"/>
            <a:ext cx="146304" cy="0"/>
          </a:xfrm>
          <a:prstGeom prst="line">
            <a:avLst/>
          </a:prstGeom>
          <a:noFill/>
          <a:ln w="20320">
            <a:solidFill>
              <a:srgbClr val="064E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8" name="Shape 6"/>
          <p:cNvSpPr/>
          <p:nvPr/>
        </p:nvSpPr>
        <p:spPr>
          <a:xfrm>
            <a:off x="4923130" y="2080260"/>
            <a:ext cx="146304" cy="0"/>
          </a:xfrm>
          <a:prstGeom prst="line">
            <a:avLst/>
          </a:prstGeom>
          <a:noFill/>
          <a:ln w="20320">
            <a:solidFill>
              <a:srgbClr val="064E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9" name="Shape 7"/>
          <p:cNvSpPr/>
          <p:nvPr/>
        </p:nvSpPr>
        <p:spPr>
          <a:xfrm>
            <a:off x="7092086" y="2080260"/>
            <a:ext cx="146304" cy="0"/>
          </a:xfrm>
          <a:prstGeom prst="line">
            <a:avLst/>
          </a:prstGeom>
          <a:noFill/>
          <a:ln w="20320">
            <a:solidFill>
              <a:srgbClr val="064E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10" name="Shape 8"/>
          <p:cNvSpPr/>
          <p:nvPr/>
        </p:nvSpPr>
        <p:spPr>
          <a:xfrm>
            <a:off x="9261043" y="2080260"/>
            <a:ext cx="146304" cy="0"/>
          </a:xfrm>
          <a:prstGeom prst="line">
            <a:avLst/>
          </a:prstGeom>
          <a:noFill/>
          <a:ln w="20320">
            <a:solidFill>
              <a:srgbClr val="064E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11" name="Shape 9"/>
          <p:cNvSpPr/>
          <p:nvPr/>
        </p:nvSpPr>
        <p:spPr>
          <a:xfrm>
            <a:off x="731520" y="1600200"/>
            <a:ext cx="2022653" cy="960120"/>
          </a:xfrm>
          <a:prstGeom prst="roundRect">
            <a:avLst>
              <a:gd name="adj" fmla="val 4762"/>
            </a:avLst>
          </a:prstGeom>
          <a:solidFill>
            <a:srgbClr val="DCEFE5"/>
          </a:solidFill>
          <a:ln w="12700">
            <a:solidFill>
              <a:srgbClr val="0B6B3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Text 10"/>
          <p:cNvSpPr/>
          <p:nvPr/>
        </p:nvSpPr>
        <p:spPr>
          <a:xfrm>
            <a:off x="777240" y="1645920"/>
            <a:ext cx="19312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Nghiên cứu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TickNet-small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2900477" y="1600200"/>
            <a:ext cx="2022653" cy="960120"/>
          </a:xfrm>
          <a:prstGeom prst="roundRect">
            <a:avLst>
              <a:gd name="adj" fmla="val 4762"/>
            </a:avLst>
          </a:prstGeom>
          <a:solidFill>
            <a:srgbClr val="DCEFE5"/>
          </a:solidFill>
          <a:ln w="12700">
            <a:solidFill>
              <a:srgbClr val="0B6B3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" name="Text 12"/>
          <p:cNvSpPr/>
          <p:nvPr/>
        </p:nvSpPr>
        <p:spPr>
          <a:xfrm>
            <a:off x="2946197" y="1645920"/>
            <a:ext cx="19312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</a:t>
            </a:r>
            <a:endParaRPr lang="en-US" sz="1250"/>
          </a:p>
        </p:txBody>
      </p:sp>
      <p:sp>
        <p:nvSpPr>
          <p:cNvPr id="15" name="Shape 13"/>
          <p:cNvSpPr/>
          <p:nvPr/>
        </p:nvSpPr>
        <p:spPr>
          <a:xfrm>
            <a:off x="5069434" y="1600200"/>
            <a:ext cx="2022653" cy="960120"/>
          </a:xfrm>
          <a:prstGeom prst="roundRect">
            <a:avLst>
              <a:gd name="adj" fmla="val 4762"/>
            </a:avLst>
          </a:prstGeom>
          <a:solidFill>
            <a:srgbClr val="DCEFE5"/>
          </a:solidFill>
          <a:ln w="12700">
            <a:solidFill>
              <a:srgbClr val="0B6B3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" name="Text 14"/>
          <p:cNvSpPr/>
          <p:nvPr/>
        </p:nvSpPr>
        <p:spPr>
          <a:xfrm>
            <a:off x="5115154" y="1645920"/>
            <a:ext cx="19312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mô hình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7238390" y="1600200"/>
            <a:ext cx="2022653" cy="960120"/>
          </a:xfrm>
          <a:prstGeom prst="roundRect">
            <a:avLst>
              <a:gd name="adj" fmla="val 4762"/>
            </a:avLst>
          </a:prstGeom>
          <a:solidFill>
            <a:srgbClr val="DCEFE5"/>
          </a:solidFill>
          <a:ln w="12700">
            <a:solidFill>
              <a:srgbClr val="0B6B3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" name="Text 16"/>
          <p:cNvSpPr/>
          <p:nvPr/>
        </p:nvSpPr>
        <p:spPr>
          <a:xfrm>
            <a:off x="7284110" y="1645920"/>
            <a:ext cx="19312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trên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bộ dữ liệu</a:t>
            </a:r>
            <a:endParaRPr lang="en-US" sz="1250"/>
          </a:p>
        </p:txBody>
      </p:sp>
      <p:sp>
        <p:nvSpPr>
          <p:cNvPr id="19" name="Shape 17"/>
          <p:cNvSpPr/>
          <p:nvPr/>
        </p:nvSpPr>
        <p:spPr>
          <a:xfrm>
            <a:off x="9407347" y="1600200"/>
            <a:ext cx="2022653" cy="960120"/>
          </a:xfrm>
          <a:prstGeom prst="roundRect">
            <a:avLst>
              <a:gd name="adj" fmla="val 4762"/>
            </a:avLst>
          </a:prstGeom>
          <a:solidFill>
            <a:srgbClr val="DCEFE5"/>
          </a:solidFill>
          <a:ln w="12700">
            <a:solidFill>
              <a:srgbClr val="0B6B3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0" name="Text 18"/>
          <p:cNvSpPr/>
          <p:nvPr/>
        </p:nvSpPr>
        <p:spPr>
          <a:xfrm>
            <a:off x="9453067" y="1645920"/>
            <a:ext cx="19312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thích bằng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Grad-CAM</a:t>
            </a:r>
            <a:endParaRPr lang="en-US" sz="1250"/>
          </a:p>
        </p:txBody>
      </p:sp>
      <p:sp>
        <p:nvSpPr>
          <p:cNvPr id="21" name="Shape 19"/>
          <p:cNvSpPr/>
          <p:nvPr/>
        </p:nvSpPr>
        <p:spPr>
          <a:xfrm>
            <a:off x="1005840" y="3136392"/>
            <a:ext cx="10149840" cy="0"/>
          </a:xfrm>
          <a:prstGeom prst="line">
            <a:avLst/>
          </a:prstGeom>
          <a:noFill/>
          <a:ln w="17780">
            <a:solidFill>
              <a:srgbClr val="064E2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2" name="Shape 20"/>
          <p:cNvSpPr/>
          <p:nvPr/>
        </p:nvSpPr>
        <p:spPr>
          <a:xfrm>
            <a:off x="1005840" y="3584448"/>
            <a:ext cx="10149840" cy="0"/>
          </a:xfrm>
          <a:prstGeom prst="line">
            <a:avLst/>
          </a:prstGeom>
          <a:noFill/>
          <a:ln w="12700">
            <a:solidFill>
              <a:srgbClr val="D8E1D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3" name="Shape 21"/>
          <p:cNvSpPr/>
          <p:nvPr/>
        </p:nvSpPr>
        <p:spPr>
          <a:xfrm>
            <a:off x="1005840" y="4014216"/>
            <a:ext cx="1014984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4" name="Shape 22"/>
          <p:cNvSpPr/>
          <p:nvPr/>
        </p:nvSpPr>
        <p:spPr>
          <a:xfrm>
            <a:off x="1005840" y="4443984"/>
            <a:ext cx="1014984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5" name="Shape 23"/>
          <p:cNvSpPr/>
          <p:nvPr/>
        </p:nvSpPr>
        <p:spPr>
          <a:xfrm>
            <a:off x="1005840" y="4873752"/>
            <a:ext cx="1014984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6" name="Shape 24"/>
          <p:cNvSpPr/>
          <p:nvPr/>
        </p:nvSpPr>
        <p:spPr>
          <a:xfrm>
            <a:off x="1005840" y="5303520"/>
            <a:ext cx="1014984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7" name="Text 25"/>
          <p:cNvSpPr/>
          <p:nvPr/>
        </p:nvSpPr>
        <p:spPr>
          <a:xfrm>
            <a:off x="1014984" y="3186684"/>
            <a:ext cx="19825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mục tiêu</a:t>
            </a:r>
            <a:endParaRPr lang="en-US" sz="1280"/>
          </a:p>
        </p:txBody>
      </p:sp>
      <p:sp>
        <p:nvSpPr>
          <p:cNvPr id="28" name="Text 26"/>
          <p:cNvSpPr/>
          <p:nvPr/>
        </p:nvSpPr>
        <p:spPr>
          <a:xfrm>
            <a:off x="3070654" y="3186684"/>
            <a:ext cx="8075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thực hiện</a:t>
            </a:r>
            <a:endParaRPr lang="en-US" sz="1280"/>
          </a:p>
        </p:txBody>
      </p:sp>
      <p:sp>
        <p:nvSpPr>
          <p:cNvPr id="29" name="Text 27"/>
          <p:cNvSpPr/>
          <p:nvPr/>
        </p:nvSpPr>
        <p:spPr>
          <a:xfrm>
            <a:off x="1014984" y="3616452"/>
            <a:ext cx="19825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</a:t>
            </a:r>
            <a:endParaRPr lang="en-US" sz="1280"/>
          </a:p>
        </p:txBody>
      </p:sp>
      <p:sp>
        <p:nvSpPr>
          <p:cNvPr id="30" name="Text 28"/>
          <p:cNvSpPr/>
          <p:nvPr/>
        </p:nvSpPr>
        <p:spPr>
          <a:xfrm>
            <a:off x="3070654" y="3616452"/>
            <a:ext cx="8075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tả TickNet-small, FR-PDP, SE nội khối và CBAM-Hook</a:t>
            </a:r>
            <a:endParaRPr lang="en-US" sz="1280"/>
          </a:p>
        </p:txBody>
      </p:sp>
      <p:sp>
        <p:nvSpPr>
          <p:cNvPr id="31" name="Text 29"/>
          <p:cNvSpPr/>
          <p:nvPr/>
        </p:nvSpPr>
        <p:spPr>
          <a:xfrm>
            <a:off x="1014984" y="4046220"/>
            <a:ext cx="19825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nghiệm</a:t>
            </a:r>
            <a:endParaRPr lang="en-US" sz="1280"/>
          </a:p>
        </p:txBody>
      </p:sp>
      <p:sp>
        <p:nvSpPr>
          <p:cNvPr id="32" name="Text 30"/>
          <p:cNvSpPr/>
          <p:nvPr/>
        </p:nvSpPr>
        <p:spPr>
          <a:xfrm>
            <a:off x="3070654" y="4046220"/>
            <a:ext cx="8075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Hiện thực SE Baseline, CBAM-Local, CBAM-Hook bằng PyTorch</a:t>
            </a:r>
            <a:endParaRPr lang="en-US" sz="1280"/>
          </a:p>
        </p:txBody>
      </p:sp>
      <p:sp>
        <p:nvSpPr>
          <p:cNvPr id="33" name="Text 31"/>
          <p:cNvSpPr/>
          <p:nvPr/>
        </p:nvSpPr>
        <p:spPr>
          <a:xfrm>
            <a:off x="1014984" y="4475988"/>
            <a:ext cx="19825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</a:t>
            </a:r>
            <a:endParaRPr lang="en-US" sz="1280"/>
          </a:p>
        </p:txBody>
      </p:sp>
      <p:sp>
        <p:nvSpPr>
          <p:cNvPr id="34" name="Text 32"/>
          <p:cNvSpPr/>
          <p:nvPr/>
        </p:nvSpPr>
        <p:spPr>
          <a:xfrm>
            <a:off x="3070654" y="4475988"/>
            <a:ext cx="8075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trên CIFAR-10 và PlantVillage</a:t>
            </a:r>
            <a:endParaRPr lang="en-US" sz="1280"/>
          </a:p>
        </p:txBody>
      </p:sp>
      <p:sp>
        <p:nvSpPr>
          <p:cNvPr id="35" name="Text 33"/>
          <p:cNvSpPr/>
          <p:nvPr/>
        </p:nvSpPr>
        <p:spPr>
          <a:xfrm>
            <a:off x="1014984" y="4905756"/>
            <a:ext cx="19825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 đo</a:t>
            </a:r>
            <a:endParaRPr lang="en-US" sz="1280"/>
          </a:p>
        </p:txBody>
      </p:sp>
      <p:sp>
        <p:nvSpPr>
          <p:cNvPr id="36" name="Text 34"/>
          <p:cNvSpPr/>
          <p:nvPr/>
        </p:nvSpPr>
        <p:spPr>
          <a:xfrm>
            <a:off x="3070654" y="4905756"/>
            <a:ext cx="8075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Accuracy, Precision, Recall, F1-score, ROC/AUC, Confusion Matrix, Grad-CAM</a:t>
            </a:r>
            <a:endParaRPr lang="en-US" sz="1280"/>
          </a:p>
        </p:txBody>
      </p:sp>
      <p:sp>
        <p:nvSpPr>
          <p:cNvPr id="37" name="Text 35"/>
          <p:cNvSpPr/>
          <p:nvPr/>
        </p:nvSpPr>
        <p:spPr>
          <a:xfrm>
            <a:off x="1097280" y="5577840"/>
            <a:ext cx="99669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Phạm vi: chỉ mở rộng trong hướng tích hợp CBAM cho TickNet-small; không thay đổi bài toán phân loại ảnh.</a:t>
            </a:r>
            <a:endParaRPr lang="en-US" sz="15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toán phân loại ảnh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Đầu vào là ảnh; đầu ra là nhãn lớp trong tập lớp cho trước.</a:t>
            </a:r>
            <a:endParaRPr lang="en-US" sz="115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965960" cy="0"/>
          </a:xfrm>
          <a:prstGeom prst="line">
            <a:avLst/>
          </a:prstGeom>
          <a:noFill/>
          <a:ln w="381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11448288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502920" y="6565392"/>
            <a:ext cx="10789920" cy="0"/>
          </a:xfrm>
          <a:prstGeom prst="line">
            <a:avLst/>
          </a:prstGeom>
          <a:noFill/>
          <a:ln w="7620">
            <a:solidFill>
              <a:srgbClr val="D4DED9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7" name="Image 0" descr="/mnt/data/v5_extract/word/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592" y="1508760"/>
            <a:ext cx="4343400" cy="434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97546" y="2171700"/>
            <a:ext cx="118872" cy="0"/>
          </a:xfrm>
          <a:prstGeom prst="line">
            <a:avLst/>
          </a:prstGeom>
          <a:noFill/>
          <a:ln w="20320">
            <a:solidFill>
              <a:srgbClr val="064E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9" name="Shape 6"/>
          <p:cNvSpPr/>
          <p:nvPr/>
        </p:nvSpPr>
        <p:spPr>
          <a:xfrm>
            <a:off x="8993124" y="2171700"/>
            <a:ext cx="118872" cy="0"/>
          </a:xfrm>
          <a:prstGeom prst="line">
            <a:avLst/>
          </a:prstGeom>
          <a:noFill/>
          <a:ln w="20320">
            <a:solidFill>
              <a:srgbClr val="064E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10" name="Shape 7"/>
          <p:cNvSpPr/>
          <p:nvPr/>
        </p:nvSpPr>
        <p:spPr>
          <a:xfrm>
            <a:off x="10188702" y="2171700"/>
            <a:ext cx="118872" cy="0"/>
          </a:xfrm>
          <a:prstGeom prst="line">
            <a:avLst/>
          </a:prstGeom>
          <a:noFill/>
          <a:ln w="20320">
            <a:solidFill>
              <a:srgbClr val="064E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11" name="Shape 8"/>
          <p:cNvSpPr/>
          <p:nvPr/>
        </p:nvSpPr>
        <p:spPr>
          <a:xfrm>
            <a:off x="6720840" y="1737360"/>
            <a:ext cx="1076706" cy="868680"/>
          </a:xfrm>
          <a:prstGeom prst="roundRect">
            <a:avLst>
              <a:gd name="adj" fmla="val 5263"/>
            </a:avLst>
          </a:prstGeom>
          <a:solidFill>
            <a:srgbClr val="DCEFE5"/>
          </a:solidFill>
          <a:ln w="12700">
            <a:solidFill>
              <a:srgbClr val="0B6B3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Text 9"/>
          <p:cNvSpPr/>
          <p:nvPr/>
        </p:nvSpPr>
        <p:spPr>
          <a:xfrm>
            <a:off x="6766560" y="1783080"/>
            <a:ext cx="9852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đầu vào</a:t>
            </a:r>
            <a:endParaRPr lang="en-US" sz="1250"/>
          </a:p>
        </p:txBody>
      </p:sp>
      <p:sp>
        <p:nvSpPr>
          <p:cNvPr id="13" name="Shape 10"/>
          <p:cNvSpPr/>
          <p:nvPr/>
        </p:nvSpPr>
        <p:spPr>
          <a:xfrm>
            <a:off x="7916418" y="1737360"/>
            <a:ext cx="1076706" cy="868680"/>
          </a:xfrm>
          <a:prstGeom prst="roundRect">
            <a:avLst>
              <a:gd name="adj" fmla="val 5263"/>
            </a:avLst>
          </a:prstGeom>
          <a:solidFill>
            <a:srgbClr val="DCEFE5"/>
          </a:solidFill>
          <a:ln w="12700">
            <a:solidFill>
              <a:srgbClr val="0B6B3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" name="Text 11"/>
          <p:cNvSpPr/>
          <p:nvPr/>
        </p:nvSpPr>
        <p:spPr>
          <a:xfrm>
            <a:off x="7962138" y="1783080"/>
            <a:ext cx="9852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trích xuất đặc trưng</a:t>
            </a:r>
            <a:endParaRPr lang="en-US" sz="1250"/>
          </a:p>
        </p:txBody>
      </p:sp>
      <p:sp>
        <p:nvSpPr>
          <p:cNvPr id="15" name="Shape 12"/>
          <p:cNvSpPr/>
          <p:nvPr/>
        </p:nvSpPr>
        <p:spPr>
          <a:xfrm>
            <a:off x="9111996" y="1737360"/>
            <a:ext cx="1076706" cy="868680"/>
          </a:xfrm>
          <a:prstGeom prst="roundRect">
            <a:avLst>
              <a:gd name="adj" fmla="val 5263"/>
            </a:avLst>
          </a:prstGeom>
          <a:solidFill>
            <a:srgbClr val="DCEFE5"/>
          </a:solidFill>
          <a:ln w="12700">
            <a:solidFill>
              <a:srgbClr val="0B6B3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" name="Text 13"/>
          <p:cNvSpPr/>
          <p:nvPr/>
        </p:nvSpPr>
        <p:spPr>
          <a:xfrm>
            <a:off x="9157716" y="1783080"/>
            <a:ext cx="9852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</a:t>
            </a:r>
            <a:endParaRPr lang="en-US" sz="1250"/>
          </a:p>
        </p:txBody>
      </p:sp>
      <p:sp>
        <p:nvSpPr>
          <p:cNvPr id="17" name="Shape 14"/>
          <p:cNvSpPr/>
          <p:nvPr/>
        </p:nvSpPr>
        <p:spPr>
          <a:xfrm>
            <a:off x="10307574" y="1737360"/>
            <a:ext cx="1076706" cy="868680"/>
          </a:xfrm>
          <a:prstGeom prst="roundRect">
            <a:avLst>
              <a:gd name="adj" fmla="val 5263"/>
            </a:avLst>
          </a:prstGeom>
          <a:solidFill>
            <a:srgbClr val="DCEFE5"/>
          </a:solidFill>
          <a:ln w="12700">
            <a:solidFill>
              <a:srgbClr val="0B6B3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" name="Text 15"/>
          <p:cNvSpPr/>
          <p:nvPr/>
        </p:nvSpPr>
        <p:spPr>
          <a:xfrm>
            <a:off x="10353294" y="1783080"/>
            <a:ext cx="9852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Nhãn lớp</a:t>
            </a:r>
            <a:endParaRPr lang="en-US" sz="1250"/>
          </a:p>
        </p:txBody>
      </p:sp>
      <p:sp>
        <p:nvSpPr>
          <p:cNvPr id="19" name="Text 16"/>
          <p:cNvSpPr/>
          <p:nvPr/>
        </p:nvSpPr>
        <p:spPr>
          <a:xfrm>
            <a:off x="6720840" y="3063240"/>
            <a:ext cx="457200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72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Nhiệm vụ: xác định ảnh thuộc lớp nào trong một số lớp cho trước.</a:t>
            </a:r>
            <a:endParaRPr lang="en-US" sz="1720"/>
          </a:p>
          <a:p>
            <a:pPr marL="0" indent="0">
              <a:buNone/>
            </a:pPr>
            <a:r>
              <a:rPr lang="en-US" sz="172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Ứng dụng trong nhận dạng vật thể, bệnh lá cây và các hệ thống thiết bị biên.</a:t>
            </a:r>
            <a:endParaRPr lang="en-US" sz="1720"/>
          </a:p>
          <a:p>
            <a:pPr marL="0" indent="0">
              <a:buNone/>
            </a:pPr>
            <a:r>
              <a:rPr lang="en-US" sz="172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Các thách thức: biến đổi góc nhìn, tỉ lệ, che khuất và đa dạng nội lớp.</a:t>
            </a:r>
            <a:endParaRPr lang="en-US" sz="1720"/>
          </a:p>
        </p:txBody>
      </p:sp>
      <p:pic>
        <p:nvPicPr>
          <p:cNvPr id="20" name="Image 1" descr="/mnt/data/v5_extract/word/media/image8.jpeg"/>
          <p:cNvPicPr>
            <a:picLocks noChangeAspect="1"/>
          </p:cNvPicPr>
          <p:nvPr/>
        </p:nvPicPr>
        <p:blipFill>
          <a:blip r:embed="rId4"/>
          <a:srcRect t="24839" b="24839"/>
          <a:stretch/>
        </p:blipFill>
        <p:spPr>
          <a:xfrm>
            <a:off x="9738360" y="5257800"/>
            <a:ext cx="1417320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quan TickNets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TickNet-small dùng 10 khối FR-PDP được ghép từ hai tick-shape backbone.</a:t>
            </a:r>
            <a:endParaRPr lang="en-US" sz="115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965960" cy="0"/>
          </a:xfrm>
          <a:prstGeom prst="line">
            <a:avLst/>
          </a:prstGeom>
          <a:noFill/>
          <a:ln w="381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11448288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502920" y="6565392"/>
            <a:ext cx="10789920" cy="0"/>
          </a:xfrm>
          <a:prstGeom prst="line">
            <a:avLst/>
          </a:prstGeom>
          <a:noFill/>
          <a:ln w="7620">
            <a:solidFill>
              <a:srgbClr val="D4DED9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7" name="Image 0" descr="/mnt/data/v5_extract/word/media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273" y="1417320"/>
            <a:ext cx="3531870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03136" y="2240280"/>
            <a:ext cx="164592" cy="0"/>
          </a:xfrm>
          <a:prstGeom prst="line">
            <a:avLst/>
          </a:prstGeom>
          <a:noFill/>
          <a:ln w="20320">
            <a:solidFill>
              <a:srgbClr val="064E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9" name="Shape 6"/>
          <p:cNvSpPr/>
          <p:nvPr/>
        </p:nvSpPr>
        <p:spPr>
          <a:xfrm>
            <a:off x="8284464" y="2240280"/>
            <a:ext cx="164592" cy="0"/>
          </a:xfrm>
          <a:prstGeom prst="line">
            <a:avLst/>
          </a:prstGeom>
          <a:noFill/>
          <a:ln w="20320">
            <a:solidFill>
              <a:srgbClr val="064E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10" name="Shape 7"/>
          <p:cNvSpPr/>
          <p:nvPr/>
        </p:nvSpPr>
        <p:spPr>
          <a:xfrm>
            <a:off x="9765792" y="2240280"/>
            <a:ext cx="164592" cy="0"/>
          </a:xfrm>
          <a:prstGeom prst="line">
            <a:avLst/>
          </a:prstGeom>
          <a:noFill/>
          <a:ln w="20320">
            <a:solidFill>
              <a:srgbClr val="064E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11" name="Shape 8"/>
          <p:cNvSpPr/>
          <p:nvPr/>
        </p:nvSpPr>
        <p:spPr>
          <a:xfrm>
            <a:off x="5486400" y="1828800"/>
            <a:ext cx="1316736" cy="822960"/>
          </a:xfrm>
          <a:prstGeom prst="roundRect">
            <a:avLst>
              <a:gd name="adj" fmla="val 5556"/>
            </a:avLst>
          </a:prstGeom>
          <a:solidFill>
            <a:srgbClr val="DCEFE5"/>
          </a:solidFill>
          <a:ln w="12700">
            <a:solidFill>
              <a:srgbClr val="0B6B3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Text 9"/>
          <p:cNvSpPr/>
          <p:nvPr/>
        </p:nvSpPr>
        <p:spPr>
          <a:xfrm>
            <a:off x="5532120" y="187452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Pointwise</a:t>
            </a:r>
            <a:endParaRPr lang="en-US" sz="1250"/>
          </a:p>
        </p:txBody>
      </p:sp>
      <p:sp>
        <p:nvSpPr>
          <p:cNvPr id="13" name="Shape 10"/>
          <p:cNvSpPr/>
          <p:nvPr/>
        </p:nvSpPr>
        <p:spPr>
          <a:xfrm>
            <a:off x="6967728" y="1828800"/>
            <a:ext cx="1316736" cy="822960"/>
          </a:xfrm>
          <a:prstGeom prst="roundRect">
            <a:avLst>
              <a:gd name="adj" fmla="val 5556"/>
            </a:avLst>
          </a:prstGeom>
          <a:solidFill>
            <a:srgbClr val="DCEFE5"/>
          </a:solidFill>
          <a:ln w="12700">
            <a:solidFill>
              <a:srgbClr val="0B6B3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" name="Text 11"/>
          <p:cNvSpPr/>
          <p:nvPr/>
        </p:nvSpPr>
        <p:spPr>
          <a:xfrm>
            <a:off x="7013448" y="187452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Depthwise</a:t>
            </a:r>
            <a:endParaRPr lang="en-US" sz="1250"/>
          </a:p>
        </p:txBody>
      </p:sp>
      <p:sp>
        <p:nvSpPr>
          <p:cNvPr id="15" name="Shape 12"/>
          <p:cNvSpPr/>
          <p:nvPr/>
        </p:nvSpPr>
        <p:spPr>
          <a:xfrm>
            <a:off x="8449056" y="1828800"/>
            <a:ext cx="1316736" cy="822960"/>
          </a:xfrm>
          <a:prstGeom prst="roundRect">
            <a:avLst>
              <a:gd name="adj" fmla="val 5556"/>
            </a:avLst>
          </a:prstGeom>
          <a:solidFill>
            <a:srgbClr val="DCEFE5"/>
          </a:solidFill>
          <a:ln w="12700">
            <a:solidFill>
              <a:srgbClr val="0B6B3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" name="Text 13"/>
          <p:cNvSpPr/>
          <p:nvPr/>
        </p:nvSpPr>
        <p:spPr>
          <a:xfrm>
            <a:off x="8494776" y="187452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Pointwise</a:t>
            </a:r>
            <a:endParaRPr lang="en-US" sz="1250"/>
          </a:p>
        </p:txBody>
      </p:sp>
      <p:sp>
        <p:nvSpPr>
          <p:cNvPr id="17" name="Shape 14"/>
          <p:cNvSpPr/>
          <p:nvPr/>
        </p:nvSpPr>
        <p:spPr>
          <a:xfrm>
            <a:off x="9930384" y="1828800"/>
            <a:ext cx="1316736" cy="822960"/>
          </a:xfrm>
          <a:prstGeom prst="roundRect">
            <a:avLst>
              <a:gd name="adj" fmla="val 5556"/>
            </a:avLst>
          </a:prstGeom>
          <a:solidFill>
            <a:srgbClr val="DCEFE5"/>
          </a:solidFill>
          <a:ln w="12700">
            <a:solidFill>
              <a:srgbClr val="0B6B3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" name="Text 15"/>
          <p:cNvSpPr/>
          <p:nvPr/>
        </p:nvSpPr>
        <p:spPr>
          <a:xfrm>
            <a:off x="9976104" y="187452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Full-residual</a:t>
            </a:r>
            <a:endParaRPr lang="en-US" sz="1250"/>
          </a:p>
        </p:txBody>
      </p:sp>
      <p:sp>
        <p:nvSpPr>
          <p:cNvPr id="19" name="Text 16"/>
          <p:cNvSpPr/>
          <p:nvPr/>
        </p:nvSpPr>
        <p:spPr>
          <a:xfrm>
            <a:off x="5532120" y="3063240"/>
            <a:ext cx="5577840" cy="2331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73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FR-PDP khai thác chuỗi PW → DW → PW với cơ chế full-residual.</a:t>
            </a:r>
            <a:endParaRPr lang="en-US" sz="1730"/>
          </a:p>
          <a:p>
            <a:pPr marL="0" indent="0">
              <a:buNone/>
            </a:pPr>
            <a:r>
              <a:rPr lang="en-US" sz="173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Tick-shape backbone tổ chức kênh theo dạng co giãn, không tăng đều như một số mạng nhẹ truyền thống.</a:t>
            </a:r>
            <a:endParaRPr lang="en-US" sz="1730"/>
          </a:p>
          <a:p>
            <a:pPr marL="0" indent="0">
              <a:buNone/>
            </a:pPr>
            <a:r>
              <a:rPr lang="en-US" sz="173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TickNet-small được hình thành bằng cách ghép hai backbone, tổng cộng 10 khối FR-PDP.</a:t>
            </a:r>
            <a:endParaRPr lang="en-US" sz="1730"/>
          </a:p>
          <a:p>
            <a:pPr marL="0" indent="0">
              <a:buNone/>
            </a:pPr>
            <a:r>
              <a:rPr lang="en-US" sz="173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Final Conv 1×1 → Global Average Pooling → Classifier → Logits.</a:t>
            </a:r>
            <a:endParaRPr lang="en-US" sz="1730"/>
          </a:p>
        </p:txBody>
      </p:sp>
      <p:sp>
        <p:nvSpPr>
          <p:cNvPr id="20" name="Text 17"/>
          <p:cNvSpPr/>
          <p:nvPr/>
        </p:nvSpPr>
        <p:spPr>
          <a:xfrm>
            <a:off x="5577840" y="55321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700"/>
          </a:p>
        </p:txBody>
      </p:sp>
      <p:sp>
        <p:nvSpPr>
          <p:cNvPr id="21" name="Text 18"/>
          <p:cNvSpPr/>
          <p:nvPr/>
        </p:nvSpPr>
        <p:spPr>
          <a:xfrm>
            <a:off x="5577840" y="59527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TickNet-small</a:t>
            </a:r>
            <a:endParaRPr lang="en-US" sz="1150"/>
          </a:p>
        </p:txBody>
      </p:sp>
      <p:sp>
        <p:nvSpPr>
          <p:cNvPr id="22" name="Text 19"/>
          <p:cNvSpPr/>
          <p:nvPr/>
        </p:nvSpPr>
        <p:spPr>
          <a:xfrm>
            <a:off x="5577840" y="62544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khối FR-PDP</a:t>
            </a:r>
            <a:endParaRPr lang="en-US" sz="1050"/>
          </a:p>
        </p:txBody>
      </p:sp>
      <p:sp>
        <p:nvSpPr>
          <p:cNvPr id="23" name="Text 20"/>
          <p:cNvSpPr/>
          <p:nvPr/>
        </p:nvSpPr>
        <p:spPr>
          <a:xfrm>
            <a:off x="7589520" y="55321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~3M</a:t>
            </a:r>
            <a:endParaRPr lang="en-US" sz="2700"/>
          </a:p>
        </p:txBody>
      </p:sp>
      <p:sp>
        <p:nvSpPr>
          <p:cNvPr id="24" name="Text 21"/>
          <p:cNvSpPr/>
          <p:nvPr/>
        </p:nvSpPr>
        <p:spPr>
          <a:xfrm>
            <a:off x="7589520" y="59527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ImageNet-1k</a:t>
            </a:r>
            <a:endParaRPr lang="en-US" sz="1150"/>
          </a:p>
        </p:txBody>
      </p:sp>
      <p:sp>
        <p:nvSpPr>
          <p:cNvPr id="25" name="Text 22"/>
          <p:cNvSpPr/>
          <p:nvPr/>
        </p:nvSpPr>
        <p:spPr>
          <a:xfrm>
            <a:off x="7589520" y="62544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tham số</a:t>
            </a:r>
            <a:endParaRPr lang="en-US" sz="1050"/>
          </a:p>
        </p:txBody>
      </p:sp>
      <p:sp>
        <p:nvSpPr>
          <p:cNvPr id="26" name="Text 23"/>
          <p:cNvSpPr/>
          <p:nvPr/>
        </p:nvSpPr>
        <p:spPr>
          <a:xfrm>
            <a:off x="9646920" y="553212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/>
          </a:p>
        </p:txBody>
      </p:sp>
      <p:sp>
        <p:nvSpPr>
          <p:cNvPr id="27" name="Text 24"/>
          <p:cNvSpPr/>
          <p:nvPr/>
        </p:nvSpPr>
        <p:spPr>
          <a:xfrm>
            <a:off x="9646920" y="59527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</a:t>
            </a:r>
            <a:endParaRPr lang="en-US" sz="1150"/>
          </a:p>
        </p:txBody>
      </p:sp>
      <p:sp>
        <p:nvSpPr>
          <p:cNvPr id="28" name="Text 25"/>
          <p:cNvSpPr/>
          <p:nvPr/>
        </p:nvSpPr>
        <p:spPr>
          <a:xfrm>
            <a:off x="9646920" y="6254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dấu tích</a:t>
            </a:r>
            <a:endParaRPr lang="en-US"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chế Attention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tập trung theo kênh; CBAM kết hợp chú ý theo kênh và không gian.</a:t>
            </a:r>
            <a:endParaRPr lang="en-US" sz="115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965960" cy="0"/>
          </a:xfrm>
          <a:prstGeom prst="line">
            <a:avLst/>
          </a:prstGeom>
          <a:noFill/>
          <a:ln w="381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11448288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502920" y="6565392"/>
            <a:ext cx="10789920" cy="0"/>
          </a:xfrm>
          <a:prstGeom prst="line">
            <a:avLst/>
          </a:prstGeom>
          <a:noFill/>
          <a:ln w="7620">
            <a:solidFill>
              <a:srgbClr val="D4DED9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Shape 5"/>
          <p:cNvSpPr/>
          <p:nvPr/>
        </p:nvSpPr>
        <p:spPr>
          <a:xfrm>
            <a:off x="685800" y="1490472"/>
            <a:ext cx="5532120" cy="0"/>
          </a:xfrm>
          <a:prstGeom prst="line">
            <a:avLst/>
          </a:prstGeom>
          <a:noFill/>
          <a:ln w="17780">
            <a:solidFill>
              <a:srgbClr val="064E2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Shape 6"/>
          <p:cNvSpPr/>
          <p:nvPr/>
        </p:nvSpPr>
        <p:spPr>
          <a:xfrm>
            <a:off x="685800" y="2002536"/>
            <a:ext cx="5532120" cy="0"/>
          </a:xfrm>
          <a:prstGeom prst="line">
            <a:avLst/>
          </a:prstGeom>
          <a:noFill/>
          <a:ln w="12700">
            <a:solidFill>
              <a:srgbClr val="D8E1D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Shape 7"/>
          <p:cNvSpPr/>
          <p:nvPr/>
        </p:nvSpPr>
        <p:spPr>
          <a:xfrm>
            <a:off x="685800" y="2496312"/>
            <a:ext cx="553212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" name="Shape 8"/>
          <p:cNvSpPr/>
          <p:nvPr/>
        </p:nvSpPr>
        <p:spPr>
          <a:xfrm>
            <a:off x="685800" y="2990088"/>
            <a:ext cx="553212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Shape 9"/>
          <p:cNvSpPr/>
          <p:nvPr/>
        </p:nvSpPr>
        <p:spPr>
          <a:xfrm>
            <a:off x="685800" y="3483864"/>
            <a:ext cx="553212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Shape 10"/>
          <p:cNvSpPr/>
          <p:nvPr/>
        </p:nvSpPr>
        <p:spPr>
          <a:xfrm>
            <a:off x="685800" y="3977640"/>
            <a:ext cx="553212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1"/>
          <p:cNvSpPr/>
          <p:nvPr/>
        </p:nvSpPr>
        <p:spPr>
          <a:xfrm>
            <a:off x="694944" y="1540764"/>
            <a:ext cx="9227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chế</a:t>
            </a:r>
            <a:endParaRPr lang="en-US" sz="1250"/>
          </a:p>
        </p:txBody>
      </p:sp>
      <p:sp>
        <p:nvSpPr>
          <p:cNvPr id="14" name="Text 12"/>
          <p:cNvSpPr/>
          <p:nvPr/>
        </p:nvSpPr>
        <p:spPr>
          <a:xfrm>
            <a:off x="1690884" y="1540764"/>
            <a:ext cx="19983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Thành phần</a:t>
            </a:r>
            <a:endParaRPr lang="en-US" sz="1250"/>
          </a:p>
        </p:txBody>
      </p:sp>
      <p:sp>
        <p:nvSpPr>
          <p:cNvPr id="15" name="Text 13"/>
          <p:cNvSpPr/>
          <p:nvPr/>
        </p:nvSpPr>
        <p:spPr>
          <a:xfrm>
            <a:off x="3762340" y="1540764"/>
            <a:ext cx="24464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trò chính</a:t>
            </a:r>
            <a:endParaRPr lang="en-US" sz="1250"/>
          </a:p>
        </p:txBody>
      </p:sp>
      <p:sp>
        <p:nvSpPr>
          <p:cNvPr id="16" name="Text 14"/>
          <p:cNvSpPr/>
          <p:nvPr/>
        </p:nvSpPr>
        <p:spPr>
          <a:xfrm>
            <a:off x="694944" y="2034540"/>
            <a:ext cx="9227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</a:t>
            </a:r>
            <a:endParaRPr lang="en-US" sz="1250"/>
          </a:p>
        </p:txBody>
      </p:sp>
      <p:sp>
        <p:nvSpPr>
          <p:cNvPr id="17" name="Text 15"/>
          <p:cNvSpPr/>
          <p:nvPr/>
        </p:nvSpPr>
        <p:spPr>
          <a:xfrm>
            <a:off x="1690884" y="2034540"/>
            <a:ext cx="19983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Squeeze + Excitation</a:t>
            </a:r>
            <a:endParaRPr lang="en-US" sz="1250"/>
          </a:p>
        </p:txBody>
      </p:sp>
      <p:sp>
        <p:nvSpPr>
          <p:cNvPr id="18" name="Text 16"/>
          <p:cNvSpPr/>
          <p:nvPr/>
        </p:nvSpPr>
        <p:spPr>
          <a:xfrm>
            <a:off x="3762340" y="2034540"/>
            <a:ext cx="24464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Tái hiệu chỉnh đặc trưng theo kênh</a:t>
            </a:r>
            <a:endParaRPr lang="en-US" sz="1250"/>
          </a:p>
        </p:txBody>
      </p:sp>
      <p:sp>
        <p:nvSpPr>
          <p:cNvPr id="19" name="Text 17"/>
          <p:cNvSpPr/>
          <p:nvPr/>
        </p:nvSpPr>
        <p:spPr>
          <a:xfrm>
            <a:off x="694944" y="2528316"/>
            <a:ext cx="9227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</a:t>
            </a:r>
            <a:endParaRPr lang="en-US" sz="1250"/>
          </a:p>
        </p:txBody>
      </p:sp>
      <p:sp>
        <p:nvSpPr>
          <p:cNvPr id="20" name="Text 18"/>
          <p:cNvSpPr/>
          <p:nvPr/>
        </p:nvSpPr>
        <p:spPr>
          <a:xfrm>
            <a:off x="1690884" y="2528316"/>
            <a:ext cx="19983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+ GMP + Shared MLP</a:t>
            </a:r>
            <a:endParaRPr lang="en-US" sz="1250"/>
          </a:p>
        </p:txBody>
      </p:sp>
      <p:sp>
        <p:nvSpPr>
          <p:cNvPr id="21" name="Text 19"/>
          <p:cNvSpPr/>
          <p:nvPr/>
        </p:nvSpPr>
        <p:spPr>
          <a:xfrm>
            <a:off x="3762340" y="2528316"/>
            <a:ext cx="24464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định kênh đặc trưng quan trọng</a:t>
            </a:r>
            <a:endParaRPr lang="en-US" sz="1250"/>
          </a:p>
        </p:txBody>
      </p:sp>
      <p:sp>
        <p:nvSpPr>
          <p:cNvPr id="22" name="Text 20"/>
          <p:cNvSpPr/>
          <p:nvPr/>
        </p:nvSpPr>
        <p:spPr>
          <a:xfrm>
            <a:off x="694944" y="3022092"/>
            <a:ext cx="9227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250"/>
          </a:p>
        </p:txBody>
      </p:sp>
      <p:sp>
        <p:nvSpPr>
          <p:cNvPr id="23" name="Text 21"/>
          <p:cNvSpPr/>
          <p:nvPr/>
        </p:nvSpPr>
        <p:spPr>
          <a:xfrm>
            <a:off x="1690884" y="3022092"/>
            <a:ext cx="19983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Avg/Max theo kênh + Conv</a:t>
            </a:r>
            <a:endParaRPr lang="en-US" sz="1250"/>
          </a:p>
        </p:txBody>
      </p:sp>
      <p:sp>
        <p:nvSpPr>
          <p:cNvPr id="24" name="Text 22"/>
          <p:cNvSpPr/>
          <p:nvPr/>
        </p:nvSpPr>
        <p:spPr>
          <a:xfrm>
            <a:off x="3762340" y="3022092"/>
            <a:ext cx="24464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định vùng không gian cần chú ý</a:t>
            </a:r>
            <a:endParaRPr lang="en-US" sz="1250"/>
          </a:p>
        </p:txBody>
      </p:sp>
      <p:sp>
        <p:nvSpPr>
          <p:cNvPr id="25" name="Text 23"/>
          <p:cNvSpPr/>
          <p:nvPr/>
        </p:nvSpPr>
        <p:spPr>
          <a:xfrm>
            <a:off x="694944" y="3515868"/>
            <a:ext cx="9227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</a:t>
            </a:r>
            <a:endParaRPr lang="en-US" sz="1250"/>
          </a:p>
        </p:txBody>
      </p:sp>
      <p:sp>
        <p:nvSpPr>
          <p:cNvPr id="26" name="Text 24"/>
          <p:cNvSpPr/>
          <p:nvPr/>
        </p:nvSpPr>
        <p:spPr>
          <a:xfrm>
            <a:off x="1690884" y="3515868"/>
            <a:ext cx="19983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 → SAM</a:t>
            </a:r>
            <a:endParaRPr lang="en-US" sz="1250"/>
          </a:p>
        </p:txBody>
      </p:sp>
      <p:sp>
        <p:nvSpPr>
          <p:cNvPr id="27" name="Text 25"/>
          <p:cNvSpPr/>
          <p:nvPr/>
        </p:nvSpPr>
        <p:spPr>
          <a:xfrm>
            <a:off x="3762340" y="3515868"/>
            <a:ext cx="24464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Lọc tuần tự theo kênh và không gian</a:t>
            </a:r>
            <a:endParaRPr lang="en-US" sz="1250"/>
          </a:p>
        </p:txBody>
      </p:sp>
      <p:pic>
        <p:nvPicPr>
          <p:cNvPr id="28" name="Image 0" descr="/mnt/data/v5_extract/word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343" y="1417320"/>
            <a:ext cx="4180114" cy="1600200"/>
          </a:xfrm>
          <a:prstGeom prst="rect">
            <a:avLst/>
          </a:prstGeom>
        </p:spPr>
      </p:pic>
      <p:pic>
        <p:nvPicPr>
          <p:cNvPr id="29" name="Image 1" descr="/mnt/data/v5_extract/word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5703" y="3337560"/>
            <a:ext cx="2959394" cy="150876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492240" y="5074920"/>
            <a:ext cx="47548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70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 = Channel Attention Module + Spatial Attention Module</a:t>
            </a:r>
            <a:endParaRPr lang="en-US" sz="1700"/>
          </a:p>
        </p:txBody>
      </p:sp>
      <p:sp>
        <p:nvSpPr>
          <p:cNvPr id="31" name="Text 27"/>
          <p:cNvSpPr/>
          <p:nvPr/>
        </p:nvSpPr>
        <p:spPr>
          <a:xfrm>
            <a:off x="960120" y="4645152"/>
            <a:ext cx="49834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7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Trong đề tài, CBAM được dùng ở mức ngoại khối để bổ sung chú ý không gian cho TickNet-small.</a:t>
            </a:r>
            <a:endParaRPr lang="en-US" sz="157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 đề đặt ra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CBAM-Local có thể chồng chéo xử lý không gian với DWConv trong FR-PDP.</a:t>
            </a:r>
            <a:endParaRPr lang="en-US" sz="115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965960" cy="0"/>
          </a:xfrm>
          <a:prstGeom prst="line">
            <a:avLst/>
          </a:prstGeom>
          <a:noFill/>
          <a:ln w="381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11448288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502920" y="6565392"/>
            <a:ext cx="10789920" cy="0"/>
          </a:xfrm>
          <a:prstGeom prst="line">
            <a:avLst/>
          </a:prstGeom>
          <a:noFill/>
          <a:ln w="7620">
            <a:solidFill>
              <a:srgbClr val="D4DED9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Shape 5"/>
          <p:cNvSpPr/>
          <p:nvPr/>
        </p:nvSpPr>
        <p:spPr>
          <a:xfrm>
            <a:off x="3282696" y="2171700"/>
            <a:ext cx="164592" cy="0"/>
          </a:xfrm>
          <a:prstGeom prst="line">
            <a:avLst/>
          </a:prstGeom>
          <a:noFill/>
          <a:ln w="20320">
            <a:solidFill>
              <a:srgbClr val="064E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8" name="Shape 6"/>
          <p:cNvSpPr/>
          <p:nvPr/>
        </p:nvSpPr>
        <p:spPr>
          <a:xfrm>
            <a:off x="5998464" y="2171700"/>
            <a:ext cx="164592" cy="0"/>
          </a:xfrm>
          <a:prstGeom prst="line">
            <a:avLst/>
          </a:prstGeom>
          <a:noFill/>
          <a:ln w="20320">
            <a:solidFill>
              <a:srgbClr val="064E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9" name="Shape 7"/>
          <p:cNvSpPr/>
          <p:nvPr/>
        </p:nvSpPr>
        <p:spPr>
          <a:xfrm>
            <a:off x="8714232" y="2171700"/>
            <a:ext cx="164592" cy="0"/>
          </a:xfrm>
          <a:prstGeom prst="line">
            <a:avLst/>
          </a:prstGeom>
          <a:noFill/>
          <a:ln w="20320">
            <a:solidFill>
              <a:srgbClr val="064E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10" name="Shape 8"/>
          <p:cNvSpPr/>
          <p:nvPr/>
        </p:nvSpPr>
        <p:spPr>
          <a:xfrm>
            <a:off x="731520" y="1691640"/>
            <a:ext cx="2551176" cy="960120"/>
          </a:xfrm>
          <a:prstGeom prst="roundRect">
            <a:avLst>
              <a:gd name="adj" fmla="val 4762"/>
            </a:avLst>
          </a:prstGeom>
          <a:solidFill>
            <a:srgbClr val="DCEFE5"/>
          </a:solidFill>
          <a:ln w="12700">
            <a:solidFill>
              <a:srgbClr val="0B6B3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777240" y="1737360"/>
            <a:ext cx="2459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FR-PDP có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DWConv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3447288" y="1691640"/>
            <a:ext cx="2551176" cy="960120"/>
          </a:xfrm>
          <a:prstGeom prst="roundRect">
            <a:avLst>
              <a:gd name="adj" fmla="val 4762"/>
            </a:avLst>
          </a:prstGeom>
          <a:solidFill>
            <a:srgbClr val="FFF4CC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1"/>
          <p:cNvSpPr/>
          <p:nvPr/>
        </p:nvSpPr>
        <p:spPr>
          <a:xfrm>
            <a:off x="3493008" y="1737360"/>
            <a:ext cx="2459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CBAM-Local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SAM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6163056" y="1691640"/>
            <a:ext cx="2551176" cy="960120"/>
          </a:xfrm>
          <a:prstGeom prst="roundRect">
            <a:avLst>
              <a:gd name="adj" fmla="val 4762"/>
            </a:avLst>
          </a:prstGeom>
          <a:solidFill>
            <a:srgbClr val="FDE8E8"/>
          </a:solidFill>
          <a:ln w="12700">
            <a:solidFill>
              <a:srgbClr val="C43C39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Text 13"/>
          <p:cNvSpPr/>
          <p:nvPr/>
        </p:nvSpPr>
        <p:spPr>
          <a:xfrm>
            <a:off x="6208776" y="1737360"/>
            <a:ext cx="2459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C43C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Chồng chéo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C43C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xử lý không gian?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>
          <a:xfrm>
            <a:off x="8878824" y="1691640"/>
            <a:ext cx="2551176" cy="960120"/>
          </a:xfrm>
          <a:prstGeom prst="roundRect">
            <a:avLst>
              <a:gd name="adj" fmla="val 4762"/>
            </a:avLst>
          </a:prstGeom>
          <a:solidFill>
            <a:srgbClr val="E7F6F8"/>
          </a:solidFill>
          <a:ln w="12700">
            <a:solidFill>
              <a:srgbClr val="00A7B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Text 15"/>
          <p:cNvSpPr/>
          <p:nvPr/>
        </p:nvSpPr>
        <p:spPr>
          <a:xfrm>
            <a:off x="8924544" y="1737360"/>
            <a:ext cx="2459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vị trí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chèn hợp lý</a:t>
            </a:r>
            <a:endParaRPr lang="en-US" sz="1250"/>
          </a:p>
        </p:txBody>
      </p:sp>
      <p:sp>
        <p:nvSpPr>
          <p:cNvPr id="18" name="Shape 16"/>
          <p:cNvSpPr/>
          <p:nvPr/>
        </p:nvSpPr>
        <p:spPr>
          <a:xfrm>
            <a:off x="914400" y="3227832"/>
            <a:ext cx="10241280" cy="0"/>
          </a:xfrm>
          <a:prstGeom prst="line">
            <a:avLst/>
          </a:prstGeom>
          <a:noFill/>
          <a:ln w="17780">
            <a:solidFill>
              <a:srgbClr val="064E2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9" name="Shape 17"/>
          <p:cNvSpPr/>
          <p:nvPr/>
        </p:nvSpPr>
        <p:spPr>
          <a:xfrm>
            <a:off x="914400" y="3749040"/>
            <a:ext cx="10241280" cy="0"/>
          </a:xfrm>
          <a:prstGeom prst="line">
            <a:avLst/>
          </a:prstGeom>
          <a:noFill/>
          <a:ln w="12700">
            <a:solidFill>
              <a:srgbClr val="D8E1D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0" name="Shape 18"/>
          <p:cNvSpPr/>
          <p:nvPr/>
        </p:nvSpPr>
        <p:spPr>
          <a:xfrm>
            <a:off x="914400" y="4251960"/>
            <a:ext cx="1024128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1" name="Shape 19"/>
          <p:cNvSpPr/>
          <p:nvPr/>
        </p:nvSpPr>
        <p:spPr>
          <a:xfrm>
            <a:off x="914400" y="4754880"/>
            <a:ext cx="1024128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2" name="Shape 20"/>
          <p:cNvSpPr/>
          <p:nvPr/>
        </p:nvSpPr>
        <p:spPr>
          <a:xfrm>
            <a:off x="914400" y="5257800"/>
            <a:ext cx="1024128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3" name="Text 21"/>
          <p:cNvSpPr/>
          <p:nvPr/>
        </p:nvSpPr>
        <p:spPr>
          <a:xfrm>
            <a:off x="923544" y="3278124"/>
            <a:ext cx="170045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3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Chiến lược</a:t>
            </a:r>
            <a:endParaRPr lang="en-US" sz="1330"/>
          </a:p>
        </p:txBody>
      </p:sp>
      <p:sp>
        <p:nvSpPr>
          <p:cNvPr id="24" name="Text 22"/>
          <p:cNvSpPr/>
          <p:nvPr/>
        </p:nvSpPr>
        <p:spPr>
          <a:xfrm>
            <a:off x="2697153" y="3278124"/>
            <a:ext cx="40071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mạnh</a:t>
            </a:r>
            <a:endParaRPr lang="en-US" sz="1330"/>
          </a:p>
        </p:txBody>
      </p:sp>
      <p:sp>
        <p:nvSpPr>
          <p:cNvPr id="25" name="Text 23"/>
          <p:cNvSpPr/>
          <p:nvPr/>
        </p:nvSpPr>
        <p:spPr>
          <a:xfrm>
            <a:off x="6777500" y="3278124"/>
            <a:ext cx="43690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Rủi ro / vấn đề</a:t>
            </a:r>
            <a:endParaRPr lang="en-US" sz="1330"/>
          </a:p>
        </p:txBody>
      </p:sp>
      <p:sp>
        <p:nvSpPr>
          <p:cNvPr id="26" name="Text 24"/>
          <p:cNvSpPr/>
          <p:nvPr/>
        </p:nvSpPr>
        <p:spPr>
          <a:xfrm>
            <a:off x="923544" y="3781044"/>
            <a:ext cx="170045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3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Baseline</a:t>
            </a:r>
            <a:endParaRPr lang="en-US" sz="1330"/>
          </a:p>
        </p:txBody>
      </p:sp>
      <p:sp>
        <p:nvSpPr>
          <p:cNvPr id="27" name="Text 25"/>
          <p:cNvSpPr/>
          <p:nvPr/>
        </p:nvSpPr>
        <p:spPr>
          <a:xfrm>
            <a:off x="2697153" y="3781044"/>
            <a:ext cx="40071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 cấu trúc TickNets gốc</a:t>
            </a:r>
            <a:endParaRPr lang="en-US" sz="1330"/>
          </a:p>
        </p:txBody>
      </p:sp>
      <p:sp>
        <p:nvSpPr>
          <p:cNvPr id="28" name="Text 26"/>
          <p:cNvSpPr/>
          <p:nvPr/>
        </p:nvSpPr>
        <p:spPr>
          <a:xfrm>
            <a:off x="6777500" y="3781044"/>
            <a:ext cx="43690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có chú ý không gian</a:t>
            </a:r>
            <a:endParaRPr lang="en-US" sz="1330"/>
          </a:p>
        </p:txBody>
      </p:sp>
      <p:sp>
        <p:nvSpPr>
          <p:cNvPr id="29" name="Text 27"/>
          <p:cNvSpPr/>
          <p:nvPr/>
        </p:nvSpPr>
        <p:spPr>
          <a:xfrm>
            <a:off x="923544" y="4283964"/>
            <a:ext cx="170045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3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CBAM-Local</a:t>
            </a:r>
            <a:endParaRPr lang="en-US" sz="1330"/>
          </a:p>
        </p:txBody>
      </p:sp>
      <p:sp>
        <p:nvSpPr>
          <p:cNvPr id="30" name="Text 28"/>
          <p:cNvSpPr/>
          <p:nvPr/>
        </p:nvSpPr>
        <p:spPr>
          <a:xfrm>
            <a:off x="2697153" y="4283964"/>
            <a:ext cx="40071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CAM + SAM trong khối</a:t>
            </a:r>
            <a:endParaRPr lang="en-US" sz="1330"/>
          </a:p>
        </p:txBody>
      </p:sp>
      <p:sp>
        <p:nvSpPr>
          <p:cNvPr id="31" name="Text 29"/>
          <p:cNvSpPr/>
          <p:nvPr/>
        </p:nvSpPr>
        <p:spPr>
          <a:xfrm>
            <a:off x="6777500" y="4283964"/>
            <a:ext cx="43690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có thể trùng vai trò với DWConv</a:t>
            </a:r>
            <a:endParaRPr lang="en-US" sz="1330"/>
          </a:p>
        </p:txBody>
      </p:sp>
      <p:sp>
        <p:nvSpPr>
          <p:cNvPr id="32" name="Text 30"/>
          <p:cNvSpPr/>
          <p:nvPr/>
        </p:nvSpPr>
        <p:spPr>
          <a:xfrm>
            <a:off x="923544" y="4786884"/>
            <a:ext cx="170045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3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CBAM-Hook</a:t>
            </a:r>
            <a:endParaRPr lang="en-US" sz="1330"/>
          </a:p>
        </p:txBody>
      </p:sp>
      <p:sp>
        <p:nvSpPr>
          <p:cNvPr id="33" name="Text 31"/>
          <p:cNvSpPr/>
          <p:nvPr/>
        </p:nvSpPr>
        <p:spPr>
          <a:xfrm>
            <a:off x="2697153" y="4786884"/>
            <a:ext cx="40071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 SE nội khối, thêm CBAM ngoại khối</a:t>
            </a:r>
            <a:endParaRPr lang="en-US" sz="1330"/>
          </a:p>
        </p:txBody>
      </p:sp>
      <p:sp>
        <p:nvSpPr>
          <p:cNvPr id="34" name="Text 32"/>
          <p:cNvSpPr/>
          <p:nvPr/>
        </p:nvSpPr>
        <p:spPr>
          <a:xfrm>
            <a:off x="6777500" y="4786884"/>
            <a:ext cx="43690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xác định đúng hooking points</a:t>
            </a:r>
            <a:endParaRPr lang="en-US" sz="1330"/>
          </a:p>
        </p:txBody>
      </p:sp>
      <p:sp>
        <p:nvSpPr>
          <p:cNvPr id="35" name="Text 33"/>
          <p:cNvSpPr/>
          <p:nvPr/>
        </p:nvSpPr>
        <p:spPr>
          <a:xfrm>
            <a:off x="1051560" y="5532120"/>
            <a:ext cx="100126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 thuyết của đề tài: đặt CBAM tại các điểm nối sau khi đặc trưng đã tích lũy đủ ngữ nghĩa có thể phù hợp hơn đặt cục bộ trong mọi khối.</a:t>
            </a:r>
            <a:endParaRPr lang="en-US" sz="15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đề xuất CBAM-Hook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 SE trong FR-PDP; chèn CBAM sau FR-PDP-5 và FR-PDP-10.</a:t>
            </a:r>
            <a:endParaRPr lang="en-US" sz="115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965960" cy="0"/>
          </a:xfrm>
          <a:prstGeom prst="line">
            <a:avLst/>
          </a:prstGeom>
          <a:noFill/>
          <a:ln w="381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11448288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502920" y="6565392"/>
            <a:ext cx="10789920" cy="0"/>
          </a:xfrm>
          <a:prstGeom prst="line">
            <a:avLst/>
          </a:prstGeom>
          <a:noFill/>
          <a:ln w="7620">
            <a:solidFill>
              <a:srgbClr val="D4DED9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7" name="Image 0" descr="/mnt/data/v5_extract/word/media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71600"/>
            <a:ext cx="4983480" cy="4983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945782" y="2400300"/>
            <a:ext cx="118872" cy="0"/>
          </a:xfrm>
          <a:prstGeom prst="line">
            <a:avLst/>
          </a:prstGeom>
          <a:noFill/>
          <a:ln w="20320">
            <a:solidFill>
              <a:srgbClr val="064E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9" name="Shape 6"/>
          <p:cNvSpPr/>
          <p:nvPr/>
        </p:nvSpPr>
        <p:spPr>
          <a:xfrm>
            <a:off x="8066837" y="2400300"/>
            <a:ext cx="118872" cy="0"/>
          </a:xfrm>
          <a:prstGeom prst="line">
            <a:avLst/>
          </a:prstGeom>
          <a:noFill/>
          <a:ln w="20320">
            <a:solidFill>
              <a:srgbClr val="064E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10" name="Shape 7"/>
          <p:cNvSpPr/>
          <p:nvPr/>
        </p:nvSpPr>
        <p:spPr>
          <a:xfrm>
            <a:off x="9187891" y="2400300"/>
            <a:ext cx="118872" cy="0"/>
          </a:xfrm>
          <a:prstGeom prst="line">
            <a:avLst/>
          </a:prstGeom>
          <a:noFill/>
          <a:ln w="20320">
            <a:solidFill>
              <a:srgbClr val="064E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11" name="Shape 8"/>
          <p:cNvSpPr/>
          <p:nvPr/>
        </p:nvSpPr>
        <p:spPr>
          <a:xfrm>
            <a:off x="10308946" y="2400300"/>
            <a:ext cx="118872" cy="0"/>
          </a:xfrm>
          <a:prstGeom prst="line">
            <a:avLst/>
          </a:prstGeom>
          <a:noFill/>
          <a:ln w="20320">
            <a:solidFill>
              <a:srgbClr val="064E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5943600" y="1920240"/>
            <a:ext cx="1002182" cy="960120"/>
          </a:xfrm>
          <a:prstGeom prst="roundRect">
            <a:avLst>
              <a:gd name="adj" fmla="val 4762"/>
            </a:avLst>
          </a:prstGeom>
          <a:solidFill>
            <a:srgbClr val="DCEFE5"/>
          </a:solidFill>
          <a:ln w="12700">
            <a:solidFill>
              <a:srgbClr val="0B6B3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0"/>
          <p:cNvSpPr/>
          <p:nvPr/>
        </p:nvSpPr>
        <p:spPr>
          <a:xfrm>
            <a:off x="5989320" y="1965960"/>
            <a:ext cx="91074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FR-PDP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1–5</a:t>
            </a:r>
            <a:endParaRPr lang="en-US" sz="1250"/>
          </a:p>
        </p:txBody>
      </p:sp>
      <p:sp>
        <p:nvSpPr>
          <p:cNvPr id="14" name="Shape 11"/>
          <p:cNvSpPr/>
          <p:nvPr/>
        </p:nvSpPr>
        <p:spPr>
          <a:xfrm>
            <a:off x="7064654" y="1920240"/>
            <a:ext cx="1002182" cy="960120"/>
          </a:xfrm>
          <a:prstGeom prst="roundRect">
            <a:avLst>
              <a:gd name="adj" fmla="val 4762"/>
            </a:avLst>
          </a:prstGeom>
          <a:solidFill>
            <a:srgbClr val="E7F6F8"/>
          </a:solidFill>
          <a:ln w="12700">
            <a:solidFill>
              <a:srgbClr val="00A7B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Text 12"/>
          <p:cNvSpPr/>
          <p:nvPr/>
        </p:nvSpPr>
        <p:spPr>
          <a:xfrm>
            <a:off x="7110374" y="1965960"/>
            <a:ext cx="91074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1</a:t>
            </a:r>
            <a:endParaRPr lang="en-US" sz="1250"/>
          </a:p>
        </p:txBody>
      </p:sp>
      <p:sp>
        <p:nvSpPr>
          <p:cNvPr id="16" name="Shape 13"/>
          <p:cNvSpPr/>
          <p:nvPr/>
        </p:nvSpPr>
        <p:spPr>
          <a:xfrm>
            <a:off x="8185709" y="1920240"/>
            <a:ext cx="1002182" cy="960120"/>
          </a:xfrm>
          <a:prstGeom prst="roundRect">
            <a:avLst>
              <a:gd name="adj" fmla="val 4762"/>
            </a:avLst>
          </a:prstGeom>
          <a:solidFill>
            <a:srgbClr val="DCEFE5"/>
          </a:solidFill>
          <a:ln w="12700">
            <a:solidFill>
              <a:srgbClr val="0B6B3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Text 14"/>
          <p:cNvSpPr/>
          <p:nvPr/>
        </p:nvSpPr>
        <p:spPr>
          <a:xfrm>
            <a:off x="8231429" y="1965960"/>
            <a:ext cx="91074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FR-PDP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6–10</a:t>
            </a:r>
            <a:endParaRPr lang="en-US" sz="1250"/>
          </a:p>
        </p:txBody>
      </p:sp>
      <p:sp>
        <p:nvSpPr>
          <p:cNvPr id="18" name="Shape 15"/>
          <p:cNvSpPr/>
          <p:nvPr/>
        </p:nvSpPr>
        <p:spPr>
          <a:xfrm>
            <a:off x="9306763" y="1920240"/>
            <a:ext cx="1002182" cy="960120"/>
          </a:xfrm>
          <a:prstGeom prst="roundRect">
            <a:avLst>
              <a:gd name="adj" fmla="val 4762"/>
            </a:avLst>
          </a:prstGeom>
          <a:solidFill>
            <a:srgbClr val="E7F6F8"/>
          </a:solidFill>
          <a:ln w="12700">
            <a:solidFill>
              <a:srgbClr val="00A7B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9" name="Text 16"/>
          <p:cNvSpPr/>
          <p:nvPr/>
        </p:nvSpPr>
        <p:spPr>
          <a:xfrm>
            <a:off x="9352483" y="1965960"/>
            <a:ext cx="91074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2</a:t>
            </a:r>
            <a:endParaRPr lang="en-US" sz="1250"/>
          </a:p>
        </p:txBody>
      </p:sp>
      <p:sp>
        <p:nvSpPr>
          <p:cNvPr id="20" name="Shape 17"/>
          <p:cNvSpPr/>
          <p:nvPr/>
        </p:nvSpPr>
        <p:spPr>
          <a:xfrm>
            <a:off x="10427818" y="1920240"/>
            <a:ext cx="1002182" cy="960120"/>
          </a:xfrm>
          <a:prstGeom prst="roundRect">
            <a:avLst>
              <a:gd name="adj" fmla="val 4762"/>
            </a:avLst>
          </a:prstGeom>
          <a:solidFill>
            <a:srgbClr val="DCEFE5"/>
          </a:solidFill>
          <a:ln w="12700">
            <a:solidFill>
              <a:srgbClr val="0B6B3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1" name="Text 18"/>
          <p:cNvSpPr/>
          <p:nvPr/>
        </p:nvSpPr>
        <p:spPr>
          <a:xfrm>
            <a:off x="10473538" y="1965960"/>
            <a:ext cx="91074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Logits</a:t>
            </a:r>
            <a:endParaRPr lang="en-US" sz="1250"/>
          </a:p>
        </p:txBody>
      </p:sp>
      <p:sp>
        <p:nvSpPr>
          <p:cNvPr id="22" name="Text 19"/>
          <p:cNvSpPr/>
          <p:nvPr/>
        </p:nvSpPr>
        <p:spPr>
          <a:xfrm>
            <a:off x="6126480" y="3657600"/>
            <a:ext cx="4937760" cy="1920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66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 tiếp tục đảm nhiệm chú ý kênh ở mức nội khối.</a:t>
            </a:r>
            <a:endParaRPr lang="en-US" sz="1660"/>
          </a:p>
          <a:p>
            <a:pPr marL="0" indent="0">
              <a:buNone/>
            </a:pPr>
            <a:r>
              <a:rPr lang="en-US" sz="166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CBAM Hook 1 đặt sau FR-PDP-5, tại điểm nối giữa hai backbone.</a:t>
            </a:r>
            <a:endParaRPr lang="en-US" sz="1660"/>
          </a:p>
          <a:p>
            <a:pPr marL="0" indent="0">
              <a:buNone/>
            </a:pPr>
            <a:r>
              <a:rPr lang="en-US" sz="166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CBAM Hook 2 đặt sau FR-PDP-10, trước Final Conv 1×1 và GAP.</a:t>
            </a:r>
            <a:endParaRPr lang="en-US" sz="1660"/>
          </a:p>
          <a:p>
            <a:pPr marL="0" indent="0">
              <a:buNone/>
            </a:pPr>
            <a:r>
              <a:rPr lang="en-US" sz="166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Softmax chỉ dùng khi suy luận hoặc biểu diễn xác suất.</a:t>
            </a:r>
            <a:endParaRPr lang="en-US" sz="166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mô hình thực nghiệm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đối chứng để đánh giá vai trò của vị trí chèn attention.</a:t>
            </a:r>
            <a:endParaRPr lang="en-US" sz="115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965960" cy="0"/>
          </a:xfrm>
          <a:prstGeom prst="line">
            <a:avLst/>
          </a:prstGeom>
          <a:noFill/>
          <a:ln w="381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11448288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502920" y="6565392"/>
            <a:ext cx="10789920" cy="0"/>
          </a:xfrm>
          <a:prstGeom prst="line">
            <a:avLst/>
          </a:prstGeom>
          <a:noFill/>
          <a:ln w="7620">
            <a:solidFill>
              <a:srgbClr val="D4DED9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7" name="Image 0" descr="/mnt/data/v5_extract/word/media/image1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89888"/>
            <a:ext cx="4297680" cy="42976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257800" y="1490472"/>
            <a:ext cx="6172200" cy="0"/>
          </a:xfrm>
          <a:prstGeom prst="line">
            <a:avLst/>
          </a:prstGeom>
          <a:noFill/>
          <a:ln w="17780">
            <a:solidFill>
              <a:srgbClr val="064E2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Shape 6"/>
          <p:cNvSpPr/>
          <p:nvPr/>
        </p:nvSpPr>
        <p:spPr>
          <a:xfrm>
            <a:off x="5257800" y="1996440"/>
            <a:ext cx="6172200" cy="0"/>
          </a:xfrm>
          <a:prstGeom prst="line">
            <a:avLst/>
          </a:prstGeom>
          <a:noFill/>
          <a:ln w="12700">
            <a:solidFill>
              <a:srgbClr val="D8E1D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" name="Shape 7"/>
          <p:cNvSpPr/>
          <p:nvPr/>
        </p:nvSpPr>
        <p:spPr>
          <a:xfrm>
            <a:off x="5257800" y="2484120"/>
            <a:ext cx="617220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Shape 8"/>
          <p:cNvSpPr/>
          <p:nvPr/>
        </p:nvSpPr>
        <p:spPr>
          <a:xfrm>
            <a:off x="5257800" y="2971800"/>
            <a:ext cx="617220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5257800" y="3459480"/>
            <a:ext cx="617220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Shape 10"/>
          <p:cNvSpPr/>
          <p:nvPr/>
        </p:nvSpPr>
        <p:spPr>
          <a:xfrm>
            <a:off x="5257800" y="3947160"/>
            <a:ext cx="617220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" name="Shape 11"/>
          <p:cNvSpPr/>
          <p:nvPr/>
        </p:nvSpPr>
        <p:spPr>
          <a:xfrm>
            <a:off x="5257800" y="4434840"/>
            <a:ext cx="617220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Text 12"/>
          <p:cNvSpPr/>
          <p:nvPr/>
        </p:nvSpPr>
        <p:spPr>
          <a:xfrm>
            <a:off x="5266944" y="1540764"/>
            <a:ext cx="1806245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Thành phần</a:t>
            </a:r>
            <a:endParaRPr lang="en-US" sz="1160"/>
          </a:p>
        </p:txBody>
      </p:sp>
      <p:sp>
        <p:nvSpPr>
          <p:cNvPr id="16" name="Text 13"/>
          <p:cNvSpPr/>
          <p:nvPr/>
        </p:nvSpPr>
        <p:spPr>
          <a:xfrm>
            <a:off x="7146341" y="1540764"/>
            <a:ext cx="1361237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Baseline</a:t>
            </a:r>
            <a:endParaRPr lang="en-US" sz="1160"/>
          </a:p>
        </p:txBody>
      </p:sp>
      <p:sp>
        <p:nvSpPr>
          <p:cNvPr id="17" name="Text 14"/>
          <p:cNvSpPr/>
          <p:nvPr/>
        </p:nvSpPr>
        <p:spPr>
          <a:xfrm>
            <a:off x="8580730" y="1540764"/>
            <a:ext cx="1361237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CBAM-Local</a:t>
            </a:r>
            <a:endParaRPr lang="en-US" sz="1160"/>
          </a:p>
        </p:txBody>
      </p:sp>
      <p:sp>
        <p:nvSpPr>
          <p:cNvPr id="18" name="Text 15"/>
          <p:cNvSpPr/>
          <p:nvPr/>
        </p:nvSpPr>
        <p:spPr>
          <a:xfrm>
            <a:off x="10015118" y="1540764"/>
            <a:ext cx="1405738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CBAM-Hook</a:t>
            </a:r>
            <a:endParaRPr lang="en-US" sz="1160"/>
          </a:p>
        </p:txBody>
      </p:sp>
      <p:sp>
        <p:nvSpPr>
          <p:cNvPr id="19" name="Text 16"/>
          <p:cNvSpPr/>
          <p:nvPr/>
        </p:nvSpPr>
        <p:spPr>
          <a:xfrm>
            <a:off x="5266944" y="2028444"/>
            <a:ext cx="1806245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nội khối</a:t>
            </a:r>
            <a:endParaRPr lang="en-US" sz="1160"/>
          </a:p>
        </p:txBody>
      </p:sp>
      <p:sp>
        <p:nvSpPr>
          <p:cNvPr id="20" name="Text 17"/>
          <p:cNvSpPr/>
          <p:nvPr/>
        </p:nvSpPr>
        <p:spPr>
          <a:xfrm>
            <a:off x="7146341" y="2028444"/>
            <a:ext cx="1361237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</a:t>
            </a:r>
            <a:endParaRPr lang="en-US" sz="1160"/>
          </a:p>
        </p:txBody>
      </p:sp>
      <p:sp>
        <p:nvSpPr>
          <p:cNvPr id="21" name="Text 18"/>
          <p:cNvSpPr/>
          <p:nvPr/>
        </p:nvSpPr>
        <p:spPr>
          <a:xfrm>
            <a:off x="8580730" y="2028444"/>
            <a:ext cx="1361237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</a:t>
            </a:r>
            <a:endParaRPr lang="en-US" sz="1160"/>
          </a:p>
        </p:txBody>
      </p:sp>
      <p:sp>
        <p:nvSpPr>
          <p:cNvPr id="22" name="Text 19"/>
          <p:cNvSpPr/>
          <p:nvPr/>
        </p:nvSpPr>
        <p:spPr>
          <a:xfrm>
            <a:off x="10015118" y="2028444"/>
            <a:ext cx="1405738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giữ nguyên</a:t>
            </a:r>
            <a:endParaRPr lang="en-US" sz="1160"/>
          </a:p>
        </p:txBody>
      </p:sp>
      <p:sp>
        <p:nvSpPr>
          <p:cNvPr id="23" name="Text 20"/>
          <p:cNvSpPr/>
          <p:nvPr/>
        </p:nvSpPr>
        <p:spPr>
          <a:xfrm>
            <a:off x="5266944" y="2516124"/>
            <a:ext cx="1806245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Hooking Point 1</a:t>
            </a:r>
            <a:endParaRPr lang="en-US" sz="1160"/>
          </a:p>
        </p:txBody>
      </p:sp>
      <p:sp>
        <p:nvSpPr>
          <p:cNvPr id="24" name="Text 21"/>
          <p:cNvSpPr/>
          <p:nvPr/>
        </p:nvSpPr>
        <p:spPr>
          <a:xfrm>
            <a:off x="7146341" y="2516124"/>
            <a:ext cx="1361237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</a:t>
            </a:r>
            <a:endParaRPr lang="en-US" sz="1160"/>
          </a:p>
        </p:txBody>
      </p:sp>
      <p:sp>
        <p:nvSpPr>
          <p:cNvPr id="25" name="Text 22"/>
          <p:cNvSpPr/>
          <p:nvPr/>
        </p:nvSpPr>
        <p:spPr>
          <a:xfrm>
            <a:off x="8580730" y="2516124"/>
            <a:ext cx="1361237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</a:t>
            </a:r>
            <a:endParaRPr lang="en-US" sz="1160"/>
          </a:p>
        </p:txBody>
      </p:sp>
      <p:sp>
        <p:nvSpPr>
          <p:cNvPr id="26" name="Text 23"/>
          <p:cNvSpPr/>
          <p:nvPr/>
        </p:nvSpPr>
        <p:spPr>
          <a:xfrm>
            <a:off x="10015118" y="2516124"/>
            <a:ext cx="1405738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</a:t>
            </a:r>
            <a:endParaRPr lang="en-US" sz="1160"/>
          </a:p>
        </p:txBody>
      </p:sp>
      <p:sp>
        <p:nvSpPr>
          <p:cNvPr id="27" name="Text 24"/>
          <p:cNvSpPr/>
          <p:nvPr/>
        </p:nvSpPr>
        <p:spPr>
          <a:xfrm>
            <a:off x="5266944" y="3003804"/>
            <a:ext cx="1806245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Hooking Point 2</a:t>
            </a:r>
            <a:endParaRPr lang="en-US" sz="1160"/>
          </a:p>
        </p:txBody>
      </p:sp>
      <p:sp>
        <p:nvSpPr>
          <p:cNvPr id="28" name="Text 25"/>
          <p:cNvSpPr/>
          <p:nvPr/>
        </p:nvSpPr>
        <p:spPr>
          <a:xfrm>
            <a:off x="7146341" y="3003804"/>
            <a:ext cx="1361237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</a:t>
            </a:r>
            <a:endParaRPr lang="en-US" sz="1160"/>
          </a:p>
        </p:txBody>
      </p:sp>
      <p:sp>
        <p:nvSpPr>
          <p:cNvPr id="29" name="Text 26"/>
          <p:cNvSpPr/>
          <p:nvPr/>
        </p:nvSpPr>
        <p:spPr>
          <a:xfrm>
            <a:off x="8580730" y="3003804"/>
            <a:ext cx="1361237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</a:t>
            </a:r>
            <a:endParaRPr lang="en-US" sz="1160"/>
          </a:p>
        </p:txBody>
      </p:sp>
      <p:sp>
        <p:nvSpPr>
          <p:cNvPr id="30" name="Text 27"/>
          <p:cNvSpPr/>
          <p:nvPr/>
        </p:nvSpPr>
        <p:spPr>
          <a:xfrm>
            <a:off x="10015118" y="3003804"/>
            <a:ext cx="1405738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</a:t>
            </a:r>
            <a:endParaRPr lang="en-US" sz="1160"/>
          </a:p>
        </p:txBody>
      </p:sp>
      <p:sp>
        <p:nvSpPr>
          <p:cNvPr id="31" name="Text 28"/>
          <p:cNvSpPr/>
          <p:nvPr/>
        </p:nvSpPr>
        <p:spPr>
          <a:xfrm>
            <a:off x="5266944" y="3491484"/>
            <a:ext cx="1806245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Lọc không gian cục bộ</a:t>
            </a:r>
            <a:endParaRPr lang="en-US" sz="1160"/>
          </a:p>
        </p:txBody>
      </p:sp>
      <p:sp>
        <p:nvSpPr>
          <p:cNvPr id="32" name="Text 29"/>
          <p:cNvSpPr/>
          <p:nvPr/>
        </p:nvSpPr>
        <p:spPr>
          <a:xfrm>
            <a:off x="7146341" y="3491484"/>
            <a:ext cx="1361237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</a:t>
            </a:r>
            <a:endParaRPr lang="en-US" sz="1160"/>
          </a:p>
        </p:txBody>
      </p:sp>
      <p:sp>
        <p:nvSpPr>
          <p:cNvPr id="33" name="Text 30"/>
          <p:cNvSpPr/>
          <p:nvPr/>
        </p:nvSpPr>
        <p:spPr>
          <a:xfrm>
            <a:off x="8580730" y="3491484"/>
            <a:ext cx="1361237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SAM</a:t>
            </a:r>
            <a:endParaRPr lang="en-US" sz="1160"/>
          </a:p>
        </p:txBody>
      </p:sp>
      <p:sp>
        <p:nvSpPr>
          <p:cNvPr id="34" name="Text 31"/>
          <p:cNvSpPr/>
          <p:nvPr/>
        </p:nvSpPr>
        <p:spPr>
          <a:xfrm>
            <a:off x="10015118" y="3491484"/>
            <a:ext cx="1405738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</a:t>
            </a:r>
            <a:endParaRPr lang="en-US" sz="1160"/>
          </a:p>
        </p:txBody>
      </p:sp>
      <p:sp>
        <p:nvSpPr>
          <p:cNvPr id="35" name="Text 32"/>
          <p:cNvSpPr/>
          <p:nvPr/>
        </p:nvSpPr>
        <p:spPr>
          <a:xfrm>
            <a:off x="5266944" y="3979164"/>
            <a:ext cx="1806245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Lọc không gian toàn cục</a:t>
            </a:r>
            <a:endParaRPr lang="en-US" sz="1160"/>
          </a:p>
        </p:txBody>
      </p:sp>
      <p:sp>
        <p:nvSpPr>
          <p:cNvPr id="36" name="Text 33"/>
          <p:cNvSpPr/>
          <p:nvPr/>
        </p:nvSpPr>
        <p:spPr>
          <a:xfrm>
            <a:off x="7146341" y="3979164"/>
            <a:ext cx="1361237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</a:t>
            </a:r>
            <a:endParaRPr lang="en-US" sz="1160"/>
          </a:p>
        </p:txBody>
      </p:sp>
      <p:sp>
        <p:nvSpPr>
          <p:cNvPr id="37" name="Text 34"/>
          <p:cNvSpPr/>
          <p:nvPr/>
        </p:nvSpPr>
        <p:spPr>
          <a:xfrm>
            <a:off x="8580730" y="3979164"/>
            <a:ext cx="1361237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</a:t>
            </a:r>
            <a:endParaRPr lang="en-US" sz="1160"/>
          </a:p>
        </p:txBody>
      </p:sp>
      <p:sp>
        <p:nvSpPr>
          <p:cNvPr id="38" name="Text 35"/>
          <p:cNvSpPr/>
          <p:nvPr/>
        </p:nvSpPr>
        <p:spPr>
          <a:xfrm>
            <a:off x="10015118" y="3979164"/>
            <a:ext cx="1405738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SAM</a:t>
            </a:r>
            <a:endParaRPr lang="en-US" sz="1160"/>
          </a:p>
        </p:txBody>
      </p:sp>
      <p:sp>
        <p:nvSpPr>
          <p:cNvPr id="39" name="Shape 36"/>
          <p:cNvSpPr/>
          <p:nvPr/>
        </p:nvSpPr>
        <p:spPr>
          <a:xfrm>
            <a:off x="5486400" y="4782312"/>
            <a:ext cx="5669280" cy="0"/>
          </a:xfrm>
          <a:prstGeom prst="line">
            <a:avLst/>
          </a:prstGeom>
          <a:noFill/>
          <a:ln w="1778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0" name="Shape 37"/>
          <p:cNvSpPr/>
          <p:nvPr/>
        </p:nvSpPr>
        <p:spPr>
          <a:xfrm>
            <a:off x="5486400" y="5056632"/>
            <a:ext cx="5669280" cy="0"/>
          </a:xfrm>
          <a:prstGeom prst="line">
            <a:avLst/>
          </a:prstGeom>
          <a:noFill/>
          <a:ln w="12700">
            <a:solidFill>
              <a:srgbClr val="D8E1D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1" name="Shape 38"/>
          <p:cNvSpPr/>
          <p:nvPr/>
        </p:nvSpPr>
        <p:spPr>
          <a:xfrm>
            <a:off x="5486400" y="5312664"/>
            <a:ext cx="566928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2" name="Shape 39"/>
          <p:cNvSpPr/>
          <p:nvPr/>
        </p:nvSpPr>
        <p:spPr>
          <a:xfrm>
            <a:off x="5486400" y="5568696"/>
            <a:ext cx="566928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3" name="Shape 40"/>
          <p:cNvSpPr/>
          <p:nvPr/>
        </p:nvSpPr>
        <p:spPr>
          <a:xfrm>
            <a:off x="5486400" y="5824728"/>
            <a:ext cx="566928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4" name="Text 41"/>
          <p:cNvSpPr/>
          <p:nvPr/>
        </p:nvSpPr>
        <p:spPr>
          <a:xfrm>
            <a:off x="5495544" y="4832604"/>
            <a:ext cx="181995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</a:t>
            </a:r>
            <a:endParaRPr lang="en-US" sz="1160"/>
          </a:p>
        </p:txBody>
      </p:sp>
      <p:sp>
        <p:nvSpPr>
          <p:cNvPr id="45" name="Text 42"/>
          <p:cNvSpPr/>
          <p:nvPr/>
        </p:nvSpPr>
        <p:spPr>
          <a:xfrm>
            <a:off x="7388647" y="4832604"/>
            <a:ext cx="181995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CIFAR-10</a:t>
            </a:r>
            <a:endParaRPr lang="en-US" sz="1160"/>
          </a:p>
        </p:txBody>
      </p:sp>
      <p:sp>
        <p:nvSpPr>
          <p:cNvPr id="46" name="Text 43"/>
          <p:cNvSpPr/>
          <p:nvPr/>
        </p:nvSpPr>
        <p:spPr>
          <a:xfrm>
            <a:off x="9281750" y="4832604"/>
            <a:ext cx="186478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PlantVillage</a:t>
            </a:r>
            <a:endParaRPr lang="en-US" sz="1160"/>
          </a:p>
        </p:txBody>
      </p:sp>
      <p:sp>
        <p:nvSpPr>
          <p:cNvPr id="47" name="Text 44"/>
          <p:cNvSpPr/>
          <p:nvPr/>
        </p:nvSpPr>
        <p:spPr>
          <a:xfrm>
            <a:off x="5495544" y="5088636"/>
            <a:ext cx="181995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Baseline</a:t>
            </a:r>
            <a:endParaRPr lang="en-US" sz="1160"/>
          </a:p>
        </p:txBody>
      </p:sp>
      <p:sp>
        <p:nvSpPr>
          <p:cNvPr id="48" name="Text 45"/>
          <p:cNvSpPr/>
          <p:nvPr/>
        </p:nvSpPr>
        <p:spPr>
          <a:xfrm>
            <a:off x="7388647" y="5088636"/>
            <a:ext cx="181995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1.986.456</a:t>
            </a:r>
            <a:endParaRPr lang="en-US" sz="1160"/>
          </a:p>
        </p:txBody>
      </p:sp>
      <p:sp>
        <p:nvSpPr>
          <p:cNvPr id="49" name="Text 46"/>
          <p:cNvSpPr/>
          <p:nvPr/>
        </p:nvSpPr>
        <p:spPr>
          <a:xfrm>
            <a:off x="9281750" y="5088636"/>
            <a:ext cx="186478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2.015.156</a:t>
            </a:r>
            <a:endParaRPr lang="en-US" sz="1160"/>
          </a:p>
        </p:txBody>
      </p:sp>
      <p:sp>
        <p:nvSpPr>
          <p:cNvPr id="50" name="Text 47"/>
          <p:cNvSpPr/>
          <p:nvPr/>
        </p:nvSpPr>
        <p:spPr>
          <a:xfrm>
            <a:off x="5495544" y="5344668"/>
            <a:ext cx="181995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CBAM-Local</a:t>
            </a:r>
            <a:endParaRPr lang="en-US" sz="1160"/>
          </a:p>
        </p:txBody>
      </p:sp>
      <p:sp>
        <p:nvSpPr>
          <p:cNvPr id="51" name="Text 48"/>
          <p:cNvSpPr/>
          <p:nvPr/>
        </p:nvSpPr>
        <p:spPr>
          <a:xfrm>
            <a:off x="7388647" y="5344668"/>
            <a:ext cx="181995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1.985.348</a:t>
            </a:r>
            <a:endParaRPr lang="en-US" sz="1160"/>
          </a:p>
        </p:txBody>
      </p:sp>
      <p:sp>
        <p:nvSpPr>
          <p:cNvPr id="52" name="Text 49"/>
          <p:cNvSpPr/>
          <p:nvPr/>
        </p:nvSpPr>
        <p:spPr>
          <a:xfrm>
            <a:off x="9281750" y="5344668"/>
            <a:ext cx="186478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2.014.848</a:t>
            </a:r>
            <a:endParaRPr lang="en-US" sz="1160"/>
          </a:p>
        </p:txBody>
      </p:sp>
      <p:sp>
        <p:nvSpPr>
          <p:cNvPr id="53" name="Text 50"/>
          <p:cNvSpPr/>
          <p:nvPr/>
        </p:nvSpPr>
        <p:spPr>
          <a:xfrm>
            <a:off x="5495544" y="5600700"/>
            <a:ext cx="181995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CBAM-Hook</a:t>
            </a:r>
            <a:endParaRPr lang="en-US" sz="1160"/>
          </a:p>
        </p:txBody>
      </p:sp>
      <p:sp>
        <p:nvSpPr>
          <p:cNvPr id="54" name="Text 51"/>
          <p:cNvSpPr/>
          <p:nvPr/>
        </p:nvSpPr>
        <p:spPr>
          <a:xfrm>
            <a:off x="7388647" y="5600700"/>
            <a:ext cx="181995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2.117.564</a:t>
            </a:r>
            <a:endParaRPr lang="en-US" sz="1160"/>
          </a:p>
        </p:txBody>
      </p:sp>
      <p:sp>
        <p:nvSpPr>
          <p:cNvPr id="55" name="Text 52"/>
          <p:cNvSpPr/>
          <p:nvPr/>
        </p:nvSpPr>
        <p:spPr>
          <a:xfrm>
            <a:off x="9281750" y="5600700"/>
            <a:ext cx="186478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2.146.424</a:t>
            </a:r>
            <a:endParaRPr lang="en-US" sz="1160"/>
          </a:p>
        </p:txBody>
      </p:sp>
      <p:sp>
        <p:nvSpPr>
          <p:cNvPr id="56" name="Text 53"/>
          <p:cNvSpPr/>
          <p:nvPr/>
        </p:nvSpPr>
        <p:spPr>
          <a:xfrm>
            <a:off x="5486400" y="4526280"/>
            <a:ext cx="5669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tham số huấn luyện</a:t>
            </a:r>
            <a:endParaRPr lang="en-US" sz="123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và môi trường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bộ dữ liệu đại diện cho ảnh nhỏ và ảnh lá cây kích thước lớn.</a:t>
            </a:r>
            <a:endParaRPr lang="en-US" sz="115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965960" cy="0"/>
          </a:xfrm>
          <a:prstGeom prst="line">
            <a:avLst/>
          </a:prstGeom>
          <a:noFill/>
          <a:ln w="381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11448288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502920" y="6565392"/>
            <a:ext cx="10789920" cy="0"/>
          </a:xfrm>
          <a:prstGeom prst="line">
            <a:avLst/>
          </a:prstGeom>
          <a:noFill/>
          <a:ln w="7620">
            <a:solidFill>
              <a:srgbClr val="D4DED9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Shape 5"/>
          <p:cNvSpPr/>
          <p:nvPr/>
        </p:nvSpPr>
        <p:spPr>
          <a:xfrm>
            <a:off x="731520" y="1490472"/>
            <a:ext cx="6492240" cy="0"/>
          </a:xfrm>
          <a:prstGeom prst="line">
            <a:avLst/>
          </a:prstGeom>
          <a:noFill/>
          <a:ln w="17780">
            <a:solidFill>
              <a:srgbClr val="064E2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Shape 6"/>
          <p:cNvSpPr/>
          <p:nvPr/>
        </p:nvSpPr>
        <p:spPr>
          <a:xfrm>
            <a:off x="731520" y="1973580"/>
            <a:ext cx="6492240" cy="0"/>
          </a:xfrm>
          <a:prstGeom prst="line">
            <a:avLst/>
          </a:prstGeom>
          <a:noFill/>
          <a:ln w="12700">
            <a:solidFill>
              <a:srgbClr val="D8E1D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Shape 7"/>
          <p:cNvSpPr/>
          <p:nvPr/>
        </p:nvSpPr>
        <p:spPr>
          <a:xfrm>
            <a:off x="731520" y="2438400"/>
            <a:ext cx="649224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" name="Shape 8"/>
          <p:cNvSpPr/>
          <p:nvPr/>
        </p:nvSpPr>
        <p:spPr>
          <a:xfrm>
            <a:off x="731520" y="2903220"/>
            <a:ext cx="649224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Shape 9"/>
          <p:cNvSpPr/>
          <p:nvPr/>
        </p:nvSpPr>
        <p:spPr>
          <a:xfrm>
            <a:off x="731520" y="3368040"/>
            <a:ext cx="649224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Shape 10"/>
          <p:cNvSpPr/>
          <p:nvPr/>
        </p:nvSpPr>
        <p:spPr>
          <a:xfrm>
            <a:off x="731520" y="3832860"/>
            <a:ext cx="649224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Shape 11"/>
          <p:cNvSpPr/>
          <p:nvPr/>
        </p:nvSpPr>
        <p:spPr>
          <a:xfrm>
            <a:off x="731520" y="4297680"/>
            <a:ext cx="649224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" name="Text 12"/>
          <p:cNvSpPr/>
          <p:nvPr/>
        </p:nvSpPr>
        <p:spPr>
          <a:xfrm>
            <a:off x="740664" y="1540764"/>
            <a:ext cx="1599814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tin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2413630" y="1540764"/>
            <a:ext cx="2229075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CIFAR-10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4715857" y="1540764"/>
            <a:ext cx="2498759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PlantVillage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740664" y="2005584"/>
            <a:ext cx="1599814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lượng ảnh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2413630" y="2005584"/>
            <a:ext cx="2229075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60.000 ảnh RGB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4715857" y="2005584"/>
            <a:ext cx="2498759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Khoảng 54.305 ảnh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740664" y="2470404"/>
            <a:ext cx="1599814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Kích thước ảnh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2413630" y="2470404"/>
            <a:ext cx="2229075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32×32 pixel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4715857" y="2470404"/>
            <a:ext cx="2498759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224×224 pixel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740664" y="2935224"/>
            <a:ext cx="1599814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lớp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2413630" y="2935224"/>
            <a:ext cx="2229075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4715857" y="2935224"/>
            <a:ext cx="2498759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740664" y="3400044"/>
            <a:ext cx="1599814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tượng</a:t>
            </a:r>
            <a:endParaRPr lang="en-US" sz="1300"/>
          </a:p>
        </p:txBody>
      </p:sp>
      <p:sp>
        <p:nvSpPr>
          <p:cNvPr id="27" name="Text 25"/>
          <p:cNvSpPr/>
          <p:nvPr/>
        </p:nvSpPr>
        <p:spPr>
          <a:xfrm>
            <a:off x="2413630" y="3400044"/>
            <a:ext cx="2229075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Vật thể phổ thông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4715857" y="3400044"/>
            <a:ext cx="2498759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Lá cây khỏe/bệnh</a:t>
            </a:r>
            <a:endParaRPr lang="en-US" sz="1300"/>
          </a:p>
        </p:txBody>
      </p:sp>
      <p:sp>
        <p:nvSpPr>
          <p:cNvPr id="29" name="Text 27"/>
          <p:cNvSpPr/>
          <p:nvPr/>
        </p:nvSpPr>
        <p:spPr>
          <a:xfrm>
            <a:off x="740664" y="3864864"/>
            <a:ext cx="1599814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kiện</a:t>
            </a:r>
            <a:endParaRPr lang="en-US" sz="1300"/>
          </a:p>
        </p:txBody>
      </p:sp>
      <p:sp>
        <p:nvSpPr>
          <p:cNvPr id="30" name="Text 28"/>
          <p:cNvSpPr/>
          <p:nvPr/>
        </p:nvSpPr>
        <p:spPr>
          <a:xfrm>
            <a:off x="2413630" y="3864864"/>
            <a:ext cx="2229075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chuẩn</a:t>
            </a:r>
            <a:endParaRPr lang="en-US" sz="1300"/>
          </a:p>
        </p:txBody>
      </p:sp>
      <p:sp>
        <p:nvSpPr>
          <p:cNvPr id="31" name="Text 29"/>
          <p:cNvSpPr/>
          <p:nvPr/>
        </p:nvSpPr>
        <p:spPr>
          <a:xfrm>
            <a:off x="4715857" y="3864864"/>
            <a:ext cx="2498759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Nền đơn sắc, phòng thí nghiệm</a:t>
            </a:r>
            <a:endParaRPr lang="en-US" sz="1300"/>
          </a:p>
        </p:txBody>
      </p:sp>
      <p:sp>
        <p:nvSpPr>
          <p:cNvPr id="32" name="Text 30"/>
          <p:cNvSpPr/>
          <p:nvPr/>
        </p:nvSpPr>
        <p:spPr>
          <a:xfrm>
            <a:off x="7543800" y="169164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endParaRPr lang="en-US" sz="2700"/>
          </a:p>
        </p:txBody>
      </p:sp>
      <p:sp>
        <p:nvSpPr>
          <p:cNvPr id="33" name="Text 31"/>
          <p:cNvSpPr/>
          <p:nvPr/>
        </p:nvSpPr>
        <p:spPr>
          <a:xfrm>
            <a:off x="7543800" y="211226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150"/>
          </a:p>
        </p:txBody>
      </p:sp>
      <p:sp>
        <p:nvSpPr>
          <p:cNvPr id="34" name="Text 32"/>
          <p:cNvSpPr/>
          <p:nvPr/>
        </p:nvSpPr>
        <p:spPr>
          <a:xfrm>
            <a:off x="7543800" y="24140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hiện thực mô hình</a:t>
            </a:r>
            <a:endParaRPr lang="en-US" sz="1050"/>
          </a:p>
        </p:txBody>
      </p:sp>
      <p:sp>
        <p:nvSpPr>
          <p:cNvPr id="35" name="Text 33"/>
          <p:cNvSpPr/>
          <p:nvPr/>
        </p:nvSpPr>
        <p:spPr>
          <a:xfrm>
            <a:off x="9555480" y="1691640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</a:t>
            </a:r>
            <a:endParaRPr lang="en-US" sz="2700"/>
          </a:p>
        </p:txBody>
      </p:sp>
      <p:sp>
        <p:nvSpPr>
          <p:cNvPr id="36" name="Text 34"/>
          <p:cNvSpPr/>
          <p:nvPr/>
        </p:nvSpPr>
        <p:spPr>
          <a:xfrm>
            <a:off x="9555480" y="211226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Nền tảng</a:t>
            </a:r>
            <a:endParaRPr lang="en-US" sz="1150"/>
          </a:p>
        </p:txBody>
      </p:sp>
      <p:sp>
        <p:nvSpPr>
          <p:cNvPr id="37" name="Text 35"/>
          <p:cNvSpPr/>
          <p:nvPr/>
        </p:nvSpPr>
        <p:spPr>
          <a:xfrm>
            <a:off x="9555480" y="24140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môi trường train</a:t>
            </a:r>
            <a:endParaRPr lang="en-US" sz="1050"/>
          </a:p>
        </p:txBody>
      </p:sp>
      <p:sp>
        <p:nvSpPr>
          <p:cNvPr id="38" name="Text 36"/>
          <p:cNvSpPr/>
          <p:nvPr/>
        </p:nvSpPr>
        <p:spPr>
          <a:xfrm>
            <a:off x="8549640" y="324612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2700"/>
          </a:p>
        </p:txBody>
      </p:sp>
      <p:sp>
        <p:nvSpPr>
          <p:cNvPr id="39" name="Text 37"/>
          <p:cNvSpPr/>
          <p:nvPr/>
        </p:nvSpPr>
        <p:spPr>
          <a:xfrm>
            <a:off x="8549640" y="36667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endParaRPr lang="en-US" sz="1150"/>
          </a:p>
        </p:txBody>
      </p:sp>
      <p:sp>
        <p:nvSpPr>
          <p:cNvPr id="40" name="Text 38"/>
          <p:cNvSpPr/>
          <p:nvPr/>
        </p:nvSpPr>
        <p:spPr>
          <a:xfrm>
            <a:off x="8549640" y="39684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Tesla</a:t>
            </a:r>
            <a:endParaRPr lang="en-US" sz="1050"/>
          </a:p>
        </p:txBody>
      </p:sp>
      <p:sp>
        <p:nvSpPr>
          <p:cNvPr id="41" name="Text 39"/>
          <p:cNvSpPr/>
          <p:nvPr/>
        </p:nvSpPr>
        <p:spPr>
          <a:xfrm>
            <a:off x="868680" y="4800600"/>
            <a:ext cx="1033272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62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CIFAR-10: ảnh nhỏ, 10 lớp, dùng để đánh giá khả năng phân biệt đặc trưng cơ bản.</a:t>
            </a:r>
            <a:endParaRPr lang="en-US" sz="1620"/>
          </a:p>
          <a:p>
            <a:pPr marL="0" indent="0">
              <a:buNone/>
            </a:pPr>
            <a:r>
              <a:rPr lang="en-US" sz="162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PlantVillage: ảnh lá cây lớn hơn, 38 lớp, phù hợp kiểm tra vai trò chú ý không gian.</a:t>
            </a:r>
            <a:endParaRPr lang="en-US" sz="162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hình huấn luyện và đánh giá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cùng pipeline đánh giá để so sánh công bằng giữa ba mô hình.</a:t>
            </a:r>
            <a:endParaRPr lang="en-US" sz="115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965960" cy="0"/>
          </a:xfrm>
          <a:prstGeom prst="line">
            <a:avLst/>
          </a:prstGeom>
          <a:noFill/>
          <a:ln w="381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11448288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502920" y="6565392"/>
            <a:ext cx="10789920" cy="0"/>
          </a:xfrm>
          <a:prstGeom prst="line">
            <a:avLst/>
          </a:prstGeom>
          <a:noFill/>
          <a:ln w="7620">
            <a:solidFill>
              <a:srgbClr val="D4DED9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Shape 5"/>
          <p:cNvSpPr/>
          <p:nvPr/>
        </p:nvSpPr>
        <p:spPr>
          <a:xfrm>
            <a:off x="713232" y="1399032"/>
            <a:ext cx="5806440" cy="0"/>
          </a:xfrm>
          <a:prstGeom prst="line">
            <a:avLst/>
          </a:prstGeom>
          <a:noFill/>
          <a:ln w="17780">
            <a:solidFill>
              <a:srgbClr val="064E2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Shape 6"/>
          <p:cNvSpPr/>
          <p:nvPr/>
        </p:nvSpPr>
        <p:spPr>
          <a:xfrm>
            <a:off x="713232" y="1834515"/>
            <a:ext cx="5806440" cy="0"/>
          </a:xfrm>
          <a:prstGeom prst="line">
            <a:avLst/>
          </a:prstGeom>
          <a:noFill/>
          <a:ln w="12700">
            <a:solidFill>
              <a:srgbClr val="D8E1D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Shape 7"/>
          <p:cNvSpPr/>
          <p:nvPr/>
        </p:nvSpPr>
        <p:spPr>
          <a:xfrm>
            <a:off x="713232" y="2251710"/>
            <a:ext cx="580644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" name="Shape 8"/>
          <p:cNvSpPr/>
          <p:nvPr/>
        </p:nvSpPr>
        <p:spPr>
          <a:xfrm>
            <a:off x="713232" y="2668905"/>
            <a:ext cx="580644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Shape 9"/>
          <p:cNvSpPr/>
          <p:nvPr/>
        </p:nvSpPr>
        <p:spPr>
          <a:xfrm>
            <a:off x="713232" y="3086100"/>
            <a:ext cx="580644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Shape 10"/>
          <p:cNvSpPr/>
          <p:nvPr/>
        </p:nvSpPr>
        <p:spPr>
          <a:xfrm>
            <a:off x="713232" y="3503295"/>
            <a:ext cx="580644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Shape 11"/>
          <p:cNvSpPr/>
          <p:nvPr/>
        </p:nvSpPr>
        <p:spPr>
          <a:xfrm>
            <a:off x="713232" y="3920490"/>
            <a:ext cx="580644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" name="Shape 12"/>
          <p:cNvSpPr/>
          <p:nvPr/>
        </p:nvSpPr>
        <p:spPr>
          <a:xfrm>
            <a:off x="713232" y="4337685"/>
            <a:ext cx="580644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Shape 13"/>
          <p:cNvSpPr/>
          <p:nvPr/>
        </p:nvSpPr>
        <p:spPr>
          <a:xfrm>
            <a:off x="713232" y="4754880"/>
            <a:ext cx="580644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" name="Text 14"/>
          <p:cNvSpPr/>
          <p:nvPr/>
        </p:nvSpPr>
        <p:spPr>
          <a:xfrm>
            <a:off x="722376" y="1449324"/>
            <a:ext cx="2359080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Siêu tham số</a:t>
            </a:r>
            <a:endParaRPr lang="en-US" sz="1250"/>
          </a:p>
        </p:txBody>
      </p:sp>
      <p:sp>
        <p:nvSpPr>
          <p:cNvPr id="17" name="Text 15"/>
          <p:cNvSpPr/>
          <p:nvPr/>
        </p:nvSpPr>
        <p:spPr>
          <a:xfrm>
            <a:off x="3154608" y="1449324"/>
            <a:ext cx="1596528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CIFAR-10</a:t>
            </a:r>
            <a:endParaRPr lang="en-US" sz="1250"/>
          </a:p>
        </p:txBody>
      </p:sp>
      <p:sp>
        <p:nvSpPr>
          <p:cNvPr id="18" name="Text 16"/>
          <p:cNvSpPr/>
          <p:nvPr/>
        </p:nvSpPr>
        <p:spPr>
          <a:xfrm>
            <a:off x="4824288" y="1449324"/>
            <a:ext cx="1686240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PlantVillage</a:t>
            </a:r>
            <a:endParaRPr lang="en-US" sz="1250"/>
          </a:p>
        </p:txBody>
      </p:sp>
      <p:sp>
        <p:nvSpPr>
          <p:cNvPr id="19" name="Text 17"/>
          <p:cNvSpPr/>
          <p:nvPr/>
        </p:nvSpPr>
        <p:spPr>
          <a:xfrm>
            <a:off x="722376" y="1866519"/>
            <a:ext cx="2359080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</a:t>
            </a:r>
            <a:endParaRPr lang="en-US" sz="1250"/>
          </a:p>
        </p:txBody>
      </p:sp>
      <p:sp>
        <p:nvSpPr>
          <p:cNvPr id="20" name="Text 18"/>
          <p:cNvSpPr/>
          <p:nvPr/>
        </p:nvSpPr>
        <p:spPr>
          <a:xfrm>
            <a:off x="3154608" y="1866519"/>
            <a:ext cx="1596528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1250"/>
          </a:p>
        </p:txBody>
      </p:sp>
      <p:sp>
        <p:nvSpPr>
          <p:cNvPr id="21" name="Text 19"/>
          <p:cNvSpPr/>
          <p:nvPr/>
        </p:nvSpPr>
        <p:spPr>
          <a:xfrm>
            <a:off x="4824288" y="1866519"/>
            <a:ext cx="1686240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250"/>
          </a:p>
        </p:txBody>
      </p:sp>
      <p:sp>
        <p:nvSpPr>
          <p:cNvPr id="22" name="Text 20"/>
          <p:cNvSpPr/>
          <p:nvPr/>
        </p:nvSpPr>
        <p:spPr>
          <a:xfrm>
            <a:off x="722376" y="2283714"/>
            <a:ext cx="2359080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 tối đa</a:t>
            </a:r>
            <a:endParaRPr lang="en-US" sz="1250"/>
          </a:p>
        </p:txBody>
      </p:sp>
      <p:sp>
        <p:nvSpPr>
          <p:cNvPr id="23" name="Text 21"/>
          <p:cNvSpPr/>
          <p:nvPr/>
        </p:nvSpPr>
        <p:spPr>
          <a:xfrm>
            <a:off x="3154608" y="2283714"/>
            <a:ext cx="1596528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50"/>
          </a:p>
        </p:txBody>
      </p:sp>
      <p:sp>
        <p:nvSpPr>
          <p:cNvPr id="24" name="Text 22"/>
          <p:cNvSpPr/>
          <p:nvPr/>
        </p:nvSpPr>
        <p:spPr>
          <a:xfrm>
            <a:off x="4824288" y="2283714"/>
            <a:ext cx="1686240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50"/>
          </a:p>
        </p:txBody>
      </p:sp>
      <p:sp>
        <p:nvSpPr>
          <p:cNvPr id="25" name="Text 23"/>
          <p:cNvSpPr/>
          <p:nvPr/>
        </p:nvSpPr>
        <p:spPr>
          <a:xfrm>
            <a:off x="722376" y="2700909"/>
            <a:ext cx="2359080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</a:t>
            </a:r>
            <a:endParaRPr lang="en-US" sz="1250"/>
          </a:p>
        </p:txBody>
      </p:sp>
      <p:sp>
        <p:nvSpPr>
          <p:cNvPr id="26" name="Text 24"/>
          <p:cNvSpPr/>
          <p:nvPr/>
        </p:nvSpPr>
        <p:spPr>
          <a:xfrm>
            <a:off x="3154608" y="2700909"/>
            <a:ext cx="1596528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</a:t>
            </a:r>
            <a:endParaRPr lang="en-US" sz="1250"/>
          </a:p>
        </p:txBody>
      </p:sp>
      <p:sp>
        <p:nvSpPr>
          <p:cNvPr id="27" name="Text 25"/>
          <p:cNvSpPr/>
          <p:nvPr/>
        </p:nvSpPr>
        <p:spPr>
          <a:xfrm>
            <a:off x="4824288" y="2700909"/>
            <a:ext cx="1686240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0.005</a:t>
            </a:r>
            <a:endParaRPr lang="en-US" sz="1250"/>
          </a:p>
        </p:txBody>
      </p:sp>
      <p:sp>
        <p:nvSpPr>
          <p:cNvPr id="28" name="Text 26"/>
          <p:cNvSpPr/>
          <p:nvPr/>
        </p:nvSpPr>
        <p:spPr>
          <a:xfrm>
            <a:off x="722376" y="3118104"/>
            <a:ext cx="2359080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smoothing</a:t>
            </a:r>
            <a:endParaRPr lang="en-US" sz="1250"/>
          </a:p>
        </p:txBody>
      </p:sp>
      <p:sp>
        <p:nvSpPr>
          <p:cNvPr id="29" name="Text 27"/>
          <p:cNvSpPr/>
          <p:nvPr/>
        </p:nvSpPr>
        <p:spPr>
          <a:xfrm>
            <a:off x="3154608" y="3118104"/>
            <a:ext cx="1596528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50"/>
          </a:p>
        </p:txBody>
      </p:sp>
      <p:sp>
        <p:nvSpPr>
          <p:cNvPr id="30" name="Text 28"/>
          <p:cNvSpPr/>
          <p:nvPr/>
        </p:nvSpPr>
        <p:spPr>
          <a:xfrm>
            <a:off x="4824288" y="3118104"/>
            <a:ext cx="1686240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</a:t>
            </a:r>
            <a:endParaRPr lang="en-US" sz="1250"/>
          </a:p>
        </p:txBody>
      </p:sp>
      <p:sp>
        <p:nvSpPr>
          <p:cNvPr id="31" name="Text 29"/>
          <p:cNvSpPr/>
          <p:nvPr/>
        </p:nvSpPr>
        <p:spPr>
          <a:xfrm>
            <a:off x="722376" y="3535299"/>
            <a:ext cx="2359080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stopping patience</a:t>
            </a:r>
            <a:endParaRPr lang="en-US" sz="1250"/>
          </a:p>
        </p:txBody>
      </p:sp>
      <p:sp>
        <p:nvSpPr>
          <p:cNvPr id="32" name="Text 30"/>
          <p:cNvSpPr/>
          <p:nvPr/>
        </p:nvSpPr>
        <p:spPr>
          <a:xfrm>
            <a:off x="3154608" y="3535299"/>
            <a:ext cx="1596528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50"/>
          </a:p>
        </p:txBody>
      </p:sp>
      <p:sp>
        <p:nvSpPr>
          <p:cNvPr id="33" name="Text 31"/>
          <p:cNvSpPr/>
          <p:nvPr/>
        </p:nvSpPr>
        <p:spPr>
          <a:xfrm>
            <a:off x="4824288" y="3535299"/>
            <a:ext cx="1686240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50"/>
          </a:p>
        </p:txBody>
      </p:sp>
      <p:sp>
        <p:nvSpPr>
          <p:cNvPr id="34" name="Text 32"/>
          <p:cNvSpPr/>
          <p:nvPr/>
        </p:nvSpPr>
        <p:spPr>
          <a:xfrm>
            <a:off x="722376" y="3952494"/>
            <a:ext cx="2359080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ReduceLROnPlateau patience</a:t>
            </a:r>
            <a:endParaRPr lang="en-US" sz="1250"/>
          </a:p>
        </p:txBody>
      </p:sp>
      <p:sp>
        <p:nvSpPr>
          <p:cNvPr id="35" name="Text 33"/>
          <p:cNvSpPr/>
          <p:nvPr/>
        </p:nvSpPr>
        <p:spPr>
          <a:xfrm>
            <a:off x="3154608" y="3952494"/>
            <a:ext cx="1596528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50"/>
          </a:p>
        </p:txBody>
      </p:sp>
      <p:sp>
        <p:nvSpPr>
          <p:cNvPr id="36" name="Text 34"/>
          <p:cNvSpPr/>
          <p:nvPr/>
        </p:nvSpPr>
        <p:spPr>
          <a:xfrm>
            <a:off x="4824288" y="3952494"/>
            <a:ext cx="1686240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50"/>
          </a:p>
        </p:txBody>
      </p:sp>
      <p:sp>
        <p:nvSpPr>
          <p:cNvPr id="37" name="Text 35"/>
          <p:cNvSpPr/>
          <p:nvPr/>
        </p:nvSpPr>
        <p:spPr>
          <a:xfrm>
            <a:off x="722376" y="4369689"/>
            <a:ext cx="2359080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SAM</a:t>
            </a:r>
            <a:endParaRPr lang="en-US" sz="1250"/>
          </a:p>
        </p:txBody>
      </p:sp>
      <p:sp>
        <p:nvSpPr>
          <p:cNvPr id="38" name="Text 36"/>
          <p:cNvSpPr/>
          <p:nvPr/>
        </p:nvSpPr>
        <p:spPr>
          <a:xfrm>
            <a:off x="3154608" y="4369689"/>
            <a:ext cx="1596528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3×3</a:t>
            </a:r>
            <a:endParaRPr lang="en-US" sz="1250"/>
          </a:p>
        </p:txBody>
      </p:sp>
      <p:sp>
        <p:nvSpPr>
          <p:cNvPr id="39" name="Text 37"/>
          <p:cNvSpPr/>
          <p:nvPr/>
        </p:nvSpPr>
        <p:spPr>
          <a:xfrm>
            <a:off x="4824288" y="4369689"/>
            <a:ext cx="1686240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7×7</a:t>
            </a:r>
            <a:endParaRPr lang="en-US" sz="1250"/>
          </a:p>
        </p:txBody>
      </p:sp>
      <p:sp>
        <p:nvSpPr>
          <p:cNvPr id="40" name="Shape 38"/>
          <p:cNvSpPr/>
          <p:nvPr/>
        </p:nvSpPr>
        <p:spPr>
          <a:xfrm>
            <a:off x="7822692" y="2217420"/>
            <a:ext cx="146304" cy="0"/>
          </a:xfrm>
          <a:prstGeom prst="line">
            <a:avLst/>
          </a:prstGeom>
          <a:noFill/>
          <a:ln w="20320">
            <a:solidFill>
              <a:srgbClr val="064E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41" name="Shape 39"/>
          <p:cNvSpPr/>
          <p:nvPr/>
        </p:nvSpPr>
        <p:spPr>
          <a:xfrm>
            <a:off x="8979408" y="2217420"/>
            <a:ext cx="146304" cy="0"/>
          </a:xfrm>
          <a:prstGeom prst="line">
            <a:avLst/>
          </a:prstGeom>
          <a:noFill/>
          <a:ln w="20320">
            <a:solidFill>
              <a:srgbClr val="064E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42" name="Shape 40"/>
          <p:cNvSpPr/>
          <p:nvPr/>
        </p:nvSpPr>
        <p:spPr>
          <a:xfrm>
            <a:off x="10136124" y="2217420"/>
            <a:ext cx="146304" cy="0"/>
          </a:xfrm>
          <a:prstGeom prst="line">
            <a:avLst/>
          </a:prstGeom>
          <a:noFill/>
          <a:ln w="20320">
            <a:solidFill>
              <a:srgbClr val="064E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43" name="Shape 41"/>
          <p:cNvSpPr/>
          <p:nvPr/>
        </p:nvSpPr>
        <p:spPr>
          <a:xfrm>
            <a:off x="6812280" y="1737360"/>
            <a:ext cx="1010412" cy="960120"/>
          </a:xfrm>
          <a:prstGeom prst="roundRect">
            <a:avLst>
              <a:gd name="adj" fmla="val 4762"/>
            </a:avLst>
          </a:prstGeom>
          <a:solidFill>
            <a:srgbClr val="DCEFE5"/>
          </a:solidFill>
          <a:ln w="12700">
            <a:solidFill>
              <a:srgbClr val="0B6B3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4" name="Text 42"/>
          <p:cNvSpPr/>
          <p:nvPr/>
        </p:nvSpPr>
        <p:spPr>
          <a:xfrm>
            <a:off x="6858000" y="1783080"/>
            <a:ext cx="9189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SGD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0.9</a:t>
            </a:r>
            <a:endParaRPr lang="en-US" sz="1250"/>
          </a:p>
        </p:txBody>
      </p:sp>
      <p:sp>
        <p:nvSpPr>
          <p:cNvPr id="45" name="Shape 43"/>
          <p:cNvSpPr/>
          <p:nvPr/>
        </p:nvSpPr>
        <p:spPr>
          <a:xfrm>
            <a:off x="7968996" y="1737360"/>
            <a:ext cx="1010412" cy="960120"/>
          </a:xfrm>
          <a:prstGeom prst="roundRect">
            <a:avLst>
              <a:gd name="adj" fmla="val 4762"/>
            </a:avLst>
          </a:prstGeom>
          <a:solidFill>
            <a:srgbClr val="DCEFE5"/>
          </a:solidFill>
          <a:ln w="12700">
            <a:solidFill>
              <a:srgbClr val="0B6B3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6" name="Text 44"/>
          <p:cNvSpPr/>
          <p:nvPr/>
        </p:nvSpPr>
        <p:spPr>
          <a:xfrm>
            <a:off x="8014716" y="1783080"/>
            <a:ext cx="9189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ReduceLR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 0.5</a:t>
            </a:r>
            <a:endParaRPr lang="en-US" sz="1250"/>
          </a:p>
        </p:txBody>
      </p:sp>
      <p:sp>
        <p:nvSpPr>
          <p:cNvPr id="47" name="Shape 45"/>
          <p:cNvSpPr/>
          <p:nvPr/>
        </p:nvSpPr>
        <p:spPr>
          <a:xfrm>
            <a:off x="9125712" y="1737360"/>
            <a:ext cx="1010412" cy="960120"/>
          </a:xfrm>
          <a:prstGeom prst="roundRect">
            <a:avLst>
              <a:gd name="adj" fmla="val 4762"/>
            </a:avLst>
          </a:prstGeom>
          <a:solidFill>
            <a:srgbClr val="DCEFE5"/>
          </a:solidFill>
          <a:ln w="12700">
            <a:solidFill>
              <a:srgbClr val="0B6B3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46"/>
          <p:cNvSpPr/>
          <p:nvPr/>
        </p:nvSpPr>
        <p:spPr>
          <a:xfrm>
            <a:off x="9171432" y="1783080"/>
            <a:ext cx="9189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Stopping</a:t>
            </a:r>
            <a:endParaRPr lang="en-US" sz="1250"/>
          </a:p>
        </p:txBody>
      </p:sp>
      <p:sp>
        <p:nvSpPr>
          <p:cNvPr id="49" name="Shape 47"/>
          <p:cNvSpPr/>
          <p:nvPr/>
        </p:nvSpPr>
        <p:spPr>
          <a:xfrm>
            <a:off x="10282428" y="1737360"/>
            <a:ext cx="1010412" cy="960120"/>
          </a:xfrm>
          <a:prstGeom prst="roundRect">
            <a:avLst>
              <a:gd name="adj" fmla="val 4762"/>
            </a:avLst>
          </a:prstGeom>
          <a:solidFill>
            <a:srgbClr val="DCEFE5"/>
          </a:solidFill>
          <a:ln w="12700">
            <a:solidFill>
              <a:srgbClr val="0B6B3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48"/>
          <p:cNvSpPr/>
          <p:nvPr/>
        </p:nvSpPr>
        <p:spPr>
          <a:xfrm>
            <a:off x="10328148" y="1783080"/>
            <a:ext cx="9189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+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Grad-CAM</a:t>
            </a:r>
            <a:endParaRPr lang="en-US" sz="1250"/>
          </a:p>
        </p:txBody>
      </p:sp>
      <p:sp>
        <p:nvSpPr>
          <p:cNvPr id="51" name="Shape 49"/>
          <p:cNvSpPr/>
          <p:nvPr/>
        </p:nvSpPr>
        <p:spPr>
          <a:xfrm>
            <a:off x="6629400" y="3364992"/>
            <a:ext cx="4754880" cy="0"/>
          </a:xfrm>
          <a:prstGeom prst="line">
            <a:avLst/>
          </a:prstGeom>
          <a:noFill/>
          <a:ln w="1778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Shape 50"/>
          <p:cNvSpPr/>
          <p:nvPr/>
        </p:nvSpPr>
        <p:spPr>
          <a:xfrm>
            <a:off x="6629400" y="3931920"/>
            <a:ext cx="4754880" cy="0"/>
          </a:xfrm>
          <a:prstGeom prst="line">
            <a:avLst/>
          </a:prstGeom>
          <a:noFill/>
          <a:ln w="12700">
            <a:solidFill>
              <a:srgbClr val="D8E1D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3" name="Shape 51"/>
          <p:cNvSpPr/>
          <p:nvPr/>
        </p:nvSpPr>
        <p:spPr>
          <a:xfrm>
            <a:off x="6629400" y="4480560"/>
            <a:ext cx="475488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4" name="Text 52"/>
          <p:cNvSpPr/>
          <p:nvPr/>
        </p:nvSpPr>
        <p:spPr>
          <a:xfrm>
            <a:off x="6638544" y="3415284"/>
            <a:ext cx="11115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lượng</a:t>
            </a:r>
            <a:endParaRPr lang="en-US" sz="1220"/>
          </a:p>
        </p:txBody>
      </p:sp>
      <p:sp>
        <p:nvSpPr>
          <p:cNvPr id="55" name="Text 53"/>
          <p:cNvSpPr/>
          <p:nvPr/>
        </p:nvSpPr>
        <p:spPr>
          <a:xfrm>
            <a:off x="7823220" y="3415284"/>
            <a:ext cx="35519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Accuracy, Precision, Recall, F1-score, ROC/AUC, Confusion Matrix</a:t>
            </a:r>
            <a:endParaRPr lang="en-US" sz="1220"/>
          </a:p>
        </p:txBody>
      </p:sp>
      <p:sp>
        <p:nvSpPr>
          <p:cNvPr id="56" name="Text 54"/>
          <p:cNvSpPr/>
          <p:nvPr/>
        </p:nvSpPr>
        <p:spPr>
          <a:xfrm>
            <a:off x="6638544" y="3963924"/>
            <a:ext cx="11115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tính</a:t>
            </a:r>
            <a:endParaRPr lang="en-US" sz="1220"/>
          </a:p>
        </p:txBody>
      </p:sp>
      <p:sp>
        <p:nvSpPr>
          <p:cNvPr id="57" name="Text 55"/>
          <p:cNvSpPr/>
          <p:nvPr/>
        </p:nvSpPr>
        <p:spPr>
          <a:xfrm>
            <a:off x="7823220" y="3963924"/>
            <a:ext cx="35519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Grad-CAM để trực quan hóa vùng chú ý của mô hình</a:t>
            </a:r>
            <a:endParaRPr lang="en-US" sz="1220"/>
          </a:p>
        </p:txBody>
      </p:sp>
      <p:sp>
        <p:nvSpPr>
          <p:cNvPr id="58" name="Text 56"/>
          <p:cNvSpPr/>
          <p:nvPr/>
        </p:nvSpPr>
        <p:spPr>
          <a:xfrm>
            <a:off x="6720840" y="5074920"/>
            <a:ext cx="45262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4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Logits được dùng trong huấn luyện với CrossEntropyLoss; Softmax chỉ dùng khi suy luận/biểu diễn xác suất.</a:t>
            </a:r>
            <a:endParaRPr lang="en-US" sz="14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trên CIFAR-10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CBAM-Hook đạt Accuracy cao nhất, cải thiện nhẹ so với baseline.</a:t>
            </a:r>
            <a:endParaRPr lang="en-US" sz="115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965960" cy="0"/>
          </a:xfrm>
          <a:prstGeom prst="line">
            <a:avLst/>
          </a:prstGeom>
          <a:noFill/>
          <a:ln w="381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11448288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502920" y="6565392"/>
            <a:ext cx="10789920" cy="0"/>
          </a:xfrm>
          <a:prstGeom prst="line">
            <a:avLst/>
          </a:prstGeom>
          <a:noFill/>
          <a:ln w="7620">
            <a:solidFill>
              <a:srgbClr val="D4DED9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Shape 5"/>
          <p:cNvSpPr/>
          <p:nvPr/>
        </p:nvSpPr>
        <p:spPr>
          <a:xfrm>
            <a:off x="685800" y="1399032"/>
            <a:ext cx="4892040" cy="0"/>
          </a:xfrm>
          <a:prstGeom prst="line">
            <a:avLst/>
          </a:prstGeom>
          <a:noFill/>
          <a:ln w="17780">
            <a:solidFill>
              <a:srgbClr val="064E2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Shape 6"/>
          <p:cNvSpPr/>
          <p:nvPr/>
        </p:nvSpPr>
        <p:spPr>
          <a:xfrm>
            <a:off x="685800" y="1771650"/>
            <a:ext cx="4892040" cy="0"/>
          </a:xfrm>
          <a:prstGeom prst="line">
            <a:avLst/>
          </a:prstGeom>
          <a:noFill/>
          <a:ln w="12700">
            <a:solidFill>
              <a:srgbClr val="D8E1D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Shape 7"/>
          <p:cNvSpPr/>
          <p:nvPr/>
        </p:nvSpPr>
        <p:spPr>
          <a:xfrm>
            <a:off x="685800" y="2125980"/>
            <a:ext cx="489204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" name="Shape 8"/>
          <p:cNvSpPr/>
          <p:nvPr/>
        </p:nvSpPr>
        <p:spPr>
          <a:xfrm>
            <a:off x="685800" y="2480310"/>
            <a:ext cx="489204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Shape 9"/>
          <p:cNvSpPr/>
          <p:nvPr/>
        </p:nvSpPr>
        <p:spPr>
          <a:xfrm>
            <a:off x="685800" y="2834640"/>
            <a:ext cx="489204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Text 10"/>
          <p:cNvSpPr/>
          <p:nvPr/>
        </p:nvSpPr>
        <p:spPr>
          <a:xfrm>
            <a:off x="694944" y="1449324"/>
            <a:ext cx="1379120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</a:t>
            </a:r>
            <a:endParaRPr lang="en-US" sz="1170"/>
          </a:p>
        </p:txBody>
      </p:sp>
      <p:sp>
        <p:nvSpPr>
          <p:cNvPr id="13" name="Text 11"/>
          <p:cNvSpPr/>
          <p:nvPr/>
        </p:nvSpPr>
        <p:spPr>
          <a:xfrm>
            <a:off x="2147216" y="1449324"/>
            <a:ext cx="811423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170"/>
          </a:p>
        </p:txBody>
      </p:sp>
      <p:sp>
        <p:nvSpPr>
          <p:cNvPr id="14" name="Text 12"/>
          <p:cNvSpPr/>
          <p:nvPr/>
        </p:nvSpPr>
        <p:spPr>
          <a:xfrm>
            <a:off x="3031791" y="1449324"/>
            <a:ext cx="811423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170"/>
          </a:p>
        </p:txBody>
      </p:sp>
      <p:sp>
        <p:nvSpPr>
          <p:cNvPr id="15" name="Text 13"/>
          <p:cNvSpPr/>
          <p:nvPr/>
        </p:nvSpPr>
        <p:spPr>
          <a:xfrm>
            <a:off x="3916367" y="1449324"/>
            <a:ext cx="811423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170"/>
          </a:p>
        </p:txBody>
      </p:sp>
      <p:sp>
        <p:nvSpPr>
          <p:cNvPr id="16" name="Text 14"/>
          <p:cNvSpPr/>
          <p:nvPr/>
        </p:nvSpPr>
        <p:spPr>
          <a:xfrm>
            <a:off x="4800942" y="1449324"/>
            <a:ext cx="767754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170"/>
          </a:p>
        </p:txBody>
      </p:sp>
      <p:sp>
        <p:nvSpPr>
          <p:cNvPr id="17" name="Text 15"/>
          <p:cNvSpPr/>
          <p:nvPr/>
        </p:nvSpPr>
        <p:spPr>
          <a:xfrm>
            <a:off x="694944" y="1803654"/>
            <a:ext cx="1379120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Baseline</a:t>
            </a:r>
            <a:endParaRPr lang="en-US" sz="1170"/>
          </a:p>
        </p:txBody>
      </p:sp>
      <p:sp>
        <p:nvSpPr>
          <p:cNvPr id="18" name="Text 16"/>
          <p:cNvSpPr/>
          <p:nvPr/>
        </p:nvSpPr>
        <p:spPr>
          <a:xfrm>
            <a:off x="2147216" y="1803654"/>
            <a:ext cx="811423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93.04</a:t>
            </a:r>
            <a:endParaRPr lang="en-US" sz="1170"/>
          </a:p>
        </p:txBody>
      </p:sp>
      <p:sp>
        <p:nvSpPr>
          <p:cNvPr id="19" name="Text 17"/>
          <p:cNvSpPr/>
          <p:nvPr/>
        </p:nvSpPr>
        <p:spPr>
          <a:xfrm>
            <a:off x="3031791" y="1803654"/>
            <a:ext cx="811423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93.06</a:t>
            </a:r>
            <a:endParaRPr lang="en-US" sz="1170"/>
          </a:p>
        </p:txBody>
      </p:sp>
      <p:sp>
        <p:nvSpPr>
          <p:cNvPr id="20" name="Text 18"/>
          <p:cNvSpPr/>
          <p:nvPr/>
        </p:nvSpPr>
        <p:spPr>
          <a:xfrm>
            <a:off x="3916367" y="1803654"/>
            <a:ext cx="811423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93.04</a:t>
            </a:r>
            <a:endParaRPr lang="en-US" sz="1170"/>
          </a:p>
        </p:txBody>
      </p:sp>
      <p:sp>
        <p:nvSpPr>
          <p:cNvPr id="21" name="Text 19"/>
          <p:cNvSpPr/>
          <p:nvPr/>
        </p:nvSpPr>
        <p:spPr>
          <a:xfrm>
            <a:off x="4800942" y="1803654"/>
            <a:ext cx="767754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93.03</a:t>
            </a:r>
            <a:endParaRPr lang="en-US" sz="1170"/>
          </a:p>
        </p:txBody>
      </p:sp>
      <p:sp>
        <p:nvSpPr>
          <p:cNvPr id="22" name="Text 20"/>
          <p:cNvSpPr/>
          <p:nvPr/>
        </p:nvSpPr>
        <p:spPr>
          <a:xfrm>
            <a:off x="694944" y="2157984"/>
            <a:ext cx="1379120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CBAM-Local</a:t>
            </a:r>
            <a:endParaRPr lang="en-US" sz="1170"/>
          </a:p>
        </p:txBody>
      </p:sp>
      <p:sp>
        <p:nvSpPr>
          <p:cNvPr id="23" name="Text 21"/>
          <p:cNvSpPr/>
          <p:nvPr/>
        </p:nvSpPr>
        <p:spPr>
          <a:xfrm>
            <a:off x="2147216" y="2157984"/>
            <a:ext cx="811423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93.40</a:t>
            </a:r>
            <a:endParaRPr lang="en-US" sz="1170"/>
          </a:p>
        </p:txBody>
      </p:sp>
      <p:sp>
        <p:nvSpPr>
          <p:cNvPr id="24" name="Text 22"/>
          <p:cNvSpPr/>
          <p:nvPr/>
        </p:nvSpPr>
        <p:spPr>
          <a:xfrm>
            <a:off x="3031791" y="2157984"/>
            <a:ext cx="811423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93.45</a:t>
            </a:r>
            <a:endParaRPr lang="en-US" sz="1170"/>
          </a:p>
        </p:txBody>
      </p:sp>
      <p:sp>
        <p:nvSpPr>
          <p:cNvPr id="25" name="Text 23"/>
          <p:cNvSpPr/>
          <p:nvPr/>
        </p:nvSpPr>
        <p:spPr>
          <a:xfrm>
            <a:off x="3916367" y="2157984"/>
            <a:ext cx="811423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93.40</a:t>
            </a:r>
            <a:endParaRPr lang="en-US" sz="1170"/>
          </a:p>
        </p:txBody>
      </p:sp>
      <p:sp>
        <p:nvSpPr>
          <p:cNvPr id="26" name="Text 24"/>
          <p:cNvSpPr/>
          <p:nvPr/>
        </p:nvSpPr>
        <p:spPr>
          <a:xfrm>
            <a:off x="4800942" y="2157984"/>
            <a:ext cx="767754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93.41</a:t>
            </a:r>
            <a:endParaRPr lang="en-US" sz="1170"/>
          </a:p>
        </p:txBody>
      </p:sp>
      <p:sp>
        <p:nvSpPr>
          <p:cNvPr id="27" name="Text 25"/>
          <p:cNvSpPr/>
          <p:nvPr/>
        </p:nvSpPr>
        <p:spPr>
          <a:xfrm>
            <a:off x="694944" y="2512314"/>
            <a:ext cx="1379120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CBAM-Hook</a:t>
            </a:r>
            <a:endParaRPr lang="en-US" sz="1170"/>
          </a:p>
        </p:txBody>
      </p:sp>
      <p:sp>
        <p:nvSpPr>
          <p:cNvPr id="28" name="Text 26"/>
          <p:cNvSpPr/>
          <p:nvPr/>
        </p:nvSpPr>
        <p:spPr>
          <a:xfrm>
            <a:off x="2147216" y="2512314"/>
            <a:ext cx="811423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93.68</a:t>
            </a:r>
            <a:endParaRPr lang="en-US" sz="1170"/>
          </a:p>
        </p:txBody>
      </p:sp>
      <p:sp>
        <p:nvSpPr>
          <p:cNvPr id="29" name="Text 27"/>
          <p:cNvSpPr/>
          <p:nvPr/>
        </p:nvSpPr>
        <p:spPr>
          <a:xfrm>
            <a:off x="3031791" y="2512314"/>
            <a:ext cx="811423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93.69</a:t>
            </a:r>
            <a:endParaRPr lang="en-US" sz="1170"/>
          </a:p>
        </p:txBody>
      </p:sp>
      <p:sp>
        <p:nvSpPr>
          <p:cNvPr id="30" name="Text 28"/>
          <p:cNvSpPr/>
          <p:nvPr/>
        </p:nvSpPr>
        <p:spPr>
          <a:xfrm>
            <a:off x="3916367" y="2512314"/>
            <a:ext cx="811423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93.68</a:t>
            </a:r>
            <a:endParaRPr lang="en-US" sz="1170"/>
          </a:p>
        </p:txBody>
      </p:sp>
      <p:sp>
        <p:nvSpPr>
          <p:cNvPr id="31" name="Text 29"/>
          <p:cNvSpPr/>
          <p:nvPr/>
        </p:nvSpPr>
        <p:spPr>
          <a:xfrm>
            <a:off x="4800942" y="2512314"/>
            <a:ext cx="767754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93.68</a:t>
            </a:r>
            <a:endParaRPr lang="en-US" sz="1170"/>
          </a:p>
        </p:txBody>
      </p:sp>
      <p:graphicFrame>
        <p:nvGraphicFramePr>
          <p:cNvPr id="32" name="Chart 0"/>
          <p:cNvGraphicFramePr/>
          <p:nvPr/>
        </p:nvGraphicFramePr>
        <p:xfrm>
          <a:off x="685800" y="3063240"/>
          <a:ext cx="48920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3" name="Image 0" descr="/mnt/data/v5_extract/word/media/image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3917" y="1325880"/>
            <a:ext cx="2728286" cy="2377440"/>
          </a:xfrm>
          <a:prstGeom prst="rect">
            <a:avLst/>
          </a:prstGeom>
        </p:spPr>
      </p:pic>
      <p:pic>
        <p:nvPicPr>
          <p:cNvPr id="34" name="Image 1" descr="/mnt/data/v5_extract/word/media/image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1525589"/>
            <a:ext cx="2331720" cy="1978023"/>
          </a:xfrm>
          <a:prstGeom prst="rect">
            <a:avLst/>
          </a:prstGeom>
        </p:spPr>
      </p:pic>
      <p:pic>
        <p:nvPicPr>
          <p:cNvPr id="35" name="Image 2" descr="/mnt/data/v5_extract/word/media/image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5451" y="3913632"/>
            <a:ext cx="2565419" cy="217627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868680" y="5559552"/>
            <a:ext cx="46634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3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CBAM-Hook: 93.68% Accuracy, +0.64 điểm so với SE Baseline và +0.28 điểm so với CBAM-Local.</a:t>
            </a:r>
            <a:endParaRPr lang="en-US" sz="1430"/>
          </a:p>
        </p:txBody>
      </p:sp>
      <p:sp>
        <p:nvSpPr>
          <p:cNvPr id="37" name="Text 31"/>
          <p:cNvSpPr/>
          <p:nvPr/>
        </p:nvSpPr>
        <p:spPr>
          <a:xfrm>
            <a:off x="6035040" y="617220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2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 macro AUC trong hình: SE 0.9957, Local 0.9962, Hook 0.9961.</a:t>
            </a:r>
            <a:endParaRPr lang="en-US" sz="102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trên PlantVillage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CBAM-Hook tốt nhất và CBAM-Local giảm so với baseline trên ảnh lá cây.</a:t>
            </a:r>
            <a:endParaRPr lang="en-US" sz="115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965960" cy="0"/>
          </a:xfrm>
          <a:prstGeom prst="line">
            <a:avLst/>
          </a:prstGeom>
          <a:noFill/>
          <a:ln w="381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11448288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502920" y="6565392"/>
            <a:ext cx="10789920" cy="0"/>
          </a:xfrm>
          <a:prstGeom prst="line">
            <a:avLst/>
          </a:prstGeom>
          <a:noFill/>
          <a:ln w="7620">
            <a:solidFill>
              <a:srgbClr val="D4DED9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Shape 5"/>
          <p:cNvSpPr/>
          <p:nvPr/>
        </p:nvSpPr>
        <p:spPr>
          <a:xfrm>
            <a:off x="685800" y="1399032"/>
            <a:ext cx="4892040" cy="0"/>
          </a:xfrm>
          <a:prstGeom prst="line">
            <a:avLst/>
          </a:prstGeom>
          <a:noFill/>
          <a:ln w="17780">
            <a:solidFill>
              <a:srgbClr val="064E2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Shape 6"/>
          <p:cNvSpPr/>
          <p:nvPr/>
        </p:nvSpPr>
        <p:spPr>
          <a:xfrm>
            <a:off x="685800" y="1771650"/>
            <a:ext cx="4892040" cy="0"/>
          </a:xfrm>
          <a:prstGeom prst="line">
            <a:avLst/>
          </a:prstGeom>
          <a:noFill/>
          <a:ln w="12700">
            <a:solidFill>
              <a:srgbClr val="D8E1D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Shape 7"/>
          <p:cNvSpPr/>
          <p:nvPr/>
        </p:nvSpPr>
        <p:spPr>
          <a:xfrm>
            <a:off x="685800" y="2125980"/>
            <a:ext cx="489204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" name="Shape 8"/>
          <p:cNvSpPr/>
          <p:nvPr/>
        </p:nvSpPr>
        <p:spPr>
          <a:xfrm>
            <a:off x="685800" y="2480310"/>
            <a:ext cx="489204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Shape 9"/>
          <p:cNvSpPr/>
          <p:nvPr/>
        </p:nvSpPr>
        <p:spPr>
          <a:xfrm>
            <a:off x="685800" y="2834640"/>
            <a:ext cx="4892040" cy="0"/>
          </a:xfrm>
          <a:prstGeom prst="line">
            <a:avLst/>
          </a:prstGeom>
          <a:noFill/>
          <a:ln w="5715">
            <a:solidFill>
              <a:srgbClr val="E4EC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Text 10"/>
          <p:cNvSpPr/>
          <p:nvPr/>
        </p:nvSpPr>
        <p:spPr>
          <a:xfrm>
            <a:off x="694944" y="1449324"/>
            <a:ext cx="1379120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</a:t>
            </a:r>
            <a:endParaRPr lang="en-US" sz="1170"/>
          </a:p>
        </p:txBody>
      </p:sp>
      <p:sp>
        <p:nvSpPr>
          <p:cNvPr id="13" name="Text 11"/>
          <p:cNvSpPr/>
          <p:nvPr/>
        </p:nvSpPr>
        <p:spPr>
          <a:xfrm>
            <a:off x="2147216" y="1449324"/>
            <a:ext cx="811423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170"/>
          </a:p>
        </p:txBody>
      </p:sp>
      <p:sp>
        <p:nvSpPr>
          <p:cNvPr id="14" name="Text 12"/>
          <p:cNvSpPr/>
          <p:nvPr/>
        </p:nvSpPr>
        <p:spPr>
          <a:xfrm>
            <a:off x="3031791" y="1449324"/>
            <a:ext cx="811423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170"/>
          </a:p>
        </p:txBody>
      </p:sp>
      <p:sp>
        <p:nvSpPr>
          <p:cNvPr id="15" name="Text 13"/>
          <p:cNvSpPr/>
          <p:nvPr/>
        </p:nvSpPr>
        <p:spPr>
          <a:xfrm>
            <a:off x="3916367" y="1449324"/>
            <a:ext cx="811423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170"/>
          </a:p>
        </p:txBody>
      </p:sp>
      <p:sp>
        <p:nvSpPr>
          <p:cNvPr id="16" name="Text 14"/>
          <p:cNvSpPr/>
          <p:nvPr/>
        </p:nvSpPr>
        <p:spPr>
          <a:xfrm>
            <a:off x="4800942" y="1449324"/>
            <a:ext cx="767754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170"/>
          </a:p>
        </p:txBody>
      </p:sp>
      <p:sp>
        <p:nvSpPr>
          <p:cNvPr id="17" name="Text 15"/>
          <p:cNvSpPr/>
          <p:nvPr/>
        </p:nvSpPr>
        <p:spPr>
          <a:xfrm>
            <a:off x="694944" y="1803654"/>
            <a:ext cx="1379120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Baseline</a:t>
            </a:r>
            <a:endParaRPr lang="en-US" sz="1170"/>
          </a:p>
        </p:txBody>
      </p:sp>
      <p:sp>
        <p:nvSpPr>
          <p:cNvPr id="18" name="Text 16"/>
          <p:cNvSpPr/>
          <p:nvPr/>
        </p:nvSpPr>
        <p:spPr>
          <a:xfrm>
            <a:off x="2147216" y="1803654"/>
            <a:ext cx="811423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98.41</a:t>
            </a:r>
            <a:endParaRPr lang="en-US" sz="1170"/>
          </a:p>
        </p:txBody>
      </p:sp>
      <p:sp>
        <p:nvSpPr>
          <p:cNvPr id="19" name="Text 17"/>
          <p:cNvSpPr/>
          <p:nvPr/>
        </p:nvSpPr>
        <p:spPr>
          <a:xfrm>
            <a:off x="3031791" y="1803654"/>
            <a:ext cx="811423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97.58</a:t>
            </a:r>
            <a:endParaRPr lang="en-US" sz="1170"/>
          </a:p>
        </p:txBody>
      </p:sp>
      <p:sp>
        <p:nvSpPr>
          <p:cNvPr id="20" name="Text 18"/>
          <p:cNvSpPr/>
          <p:nvPr/>
        </p:nvSpPr>
        <p:spPr>
          <a:xfrm>
            <a:off x="3916367" y="1803654"/>
            <a:ext cx="811423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97.76</a:t>
            </a:r>
            <a:endParaRPr lang="en-US" sz="1170"/>
          </a:p>
        </p:txBody>
      </p:sp>
      <p:sp>
        <p:nvSpPr>
          <p:cNvPr id="21" name="Text 19"/>
          <p:cNvSpPr/>
          <p:nvPr/>
        </p:nvSpPr>
        <p:spPr>
          <a:xfrm>
            <a:off x="4800942" y="1803654"/>
            <a:ext cx="767754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97.58</a:t>
            </a:r>
            <a:endParaRPr lang="en-US" sz="1170"/>
          </a:p>
        </p:txBody>
      </p:sp>
      <p:sp>
        <p:nvSpPr>
          <p:cNvPr id="22" name="Text 20"/>
          <p:cNvSpPr/>
          <p:nvPr/>
        </p:nvSpPr>
        <p:spPr>
          <a:xfrm>
            <a:off x="694944" y="2157984"/>
            <a:ext cx="1379120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CBAM-Local</a:t>
            </a:r>
            <a:endParaRPr lang="en-US" sz="1170"/>
          </a:p>
        </p:txBody>
      </p:sp>
      <p:sp>
        <p:nvSpPr>
          <p:cNvPr id="23" name="Text 21"/>
          <p:cNvSpPr/>
          <p:nvPr/>
        </p:nvSpPr>
        <p:spPr>
          <a:xfrm>
            <a:off x="2147216" y="2157984"/>
            <a:ext cx="811423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97.78</a:t>
            </a:r>
            <a:endParaRPr lang="en-US" sz="1170"/>
          </a:p>
        </p:txBody>
      </p:sp>
      <p:sp>
        <p:nvSpPr>
          <p:cNvPr id="24" name="Text 22"/>
          <p:cNvSpPr/>
          <p:nvPr/>
        </p:nvSpPr>
        <p:spPr>
          <a:xfrm>
            <a:off x="3031791" y="2157984"/>
            <a:ext cx="811423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97.43</a:t>
            </a:r>
            <a:endParaRPr lang="en-US" sz="1170"/>
          </a:p>
        </p:txBody>
      </p:sp>
      <p:sp>
        <p:nvSpPr>
          <p:cNvPr id="25" name="Text 23"/>
          <p:cNvSpPr/>
          <p:nvPr/>
        </p:nvSpPr>
        <p:spPr>
          <a:xfrm>
            <a:off x="3916367" y="2157984"/>
            <a:ext cx="811423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96.41</a:t>
            </a:r>
            <a:endParaRPr lang="en-US" sz="1170"/>
          </a:p>
        </p:txBody>
      </p:sp>
      <p:sp>
        <p:nvSpPr>
          <p:cNvPr id="26" name="Text 24"/>
          <p:cNvSpPr/>
          <p:nvPr/>
        </p:nvSpPr>
        <p:spPr>
          <a:xfrm>
            <a:off x="4800942" y="2157984"/>
            <a:ext cx="767754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96.84</a:t>
            </a:r>
            <a:endParaRPr lang="en-US" sz="1170"/>
          </a:p>
        </p:txBody>
      </p:sp>
      <p:sp>
        <p:nvSpPr>
          <p:cNvPr id="27" name="Text 25"/>
          <p:cNvSpPr/>
          <p:nvPr/>
        </p:nvSpPr>
        <p:spPr>
          <a:xfrm>
            <a:off x="694944" y="2512314"/>
            <a:ext cx="1379120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CBAM-Hook</a:t>
            </a:r>
            <a:endParaRPr lang="en-US" sz="1170"/>
          </a:p>
        </p:txBody>
      </p:sp>
      <p:sp>
        <p:nvSpPr>
          <p:cNvPr id="28" name="Text 26"/>
          <p:cNvSpPr/>
          <p:nvPr/>
        </p:nvSpPr>
        <p:spPr>
          <a:xfrm>
            <a:off x="2147216" y="2512314"/>
            <a:ext cx="811423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98.68</a:t>
            </a:r>
            <a:endParaRPr lang="en-US" sz="1170"/>
          </a:p>
        </p:txBody>
      </p:sp>
      <p:sp>
        <p:nvSpPr>
          <p:cNvPr id="29" name="Text 27"/>
          <p:cNvSpPr/>
          <p:nvPr/>
        </p:nvSpPr>
        <p:spPr>
          <a:xfrm>
            <a:off x="3031791" y="2512314"/>
            <a:ext cx="811423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98.19</a:t>
            </a:r>
            <a:endParaRPr lang="en-US" sz="1170"/>
          </a:p>
        </p:txBody>
      </p:sp>
      <p:sp>
        <p:nvSpPr>
          <p:cNvPr id="30" name="Text 28"/>
          <p:cNvSpPr/>
          <p:nvPr/>
        </p:nvSpPr>
        <p:spPr>
          <a:xfrm>
            <a:off x="3916367" y="2512314"/>
            <a:ext cx="811423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97.84</a:t>
            </a:r>
            <a:endParaRPr lang="en-US" sz="1170"/>
          </a:p>
        </p:txBody>
      </p:sp>
      <p:sp>
        <p:nvSpPr>
          <p:cNvPr id="31" name="Text 29"/>
          <p:cNvSpPr/>
          <p:nvPr/>
        </p:nvSpPr>
        <p:spPr>
          <a:xfrm>
            <a:off x="4800942" y="2512314"/>
            <a:ext cx="767754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97.96</a:t>
            </a:r>
            <a:endParaRPr lang="en-US" sz="1170"/>
          </a:p>
        </p:txBody>
      </p:sp>
      <p:graphicFrame>
        <p:nvGraphicFramePr>
          <p:cNvPr id="32" name="Chart 0"/>
          <p:cNvGraphicFramePr/>
          <p:nvPr/>
        </p:nvGraphicFramePr>
        <p:xfrm>
          <a:off x="685800" y="3063240"/>
          <a:ext cx="48920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3" name="Image 0" descr="/mnt/data/v5_extract/word/media/image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3917" y="1325880"/>
            <a:ext cx="2728286" cy="2377440"/>
          </a:xfrm>
          <a:prstGeom prst="rect">
            <a:avLst/>
          </a:prstGeom>
        </p:spPr>
      </p:pic>
      <p:pic>
        <p:nvPicPr>
          <p:cNvPr id="34" name="Image 1" descr="/mnt/data/v5_extract/word/media/image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1426313"/>
            <a:ext cx="2331720" cy="2176573"/>
          </a:xfrm>
          <a:prstGeom prst="rect">
            <a:avLst/>
          </a:prstGeom>
        </p:spPr>
      </p:pic>
      <p:pic>
        <p:nvPicPr>
          <p:cNvPr id="35" name="Image 2" descr="/mnt/data/v5_extract/word/media/image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2423" y="3913632"/>
            <a:ext cx="2331474" cy="217627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868680" y="5559552"/>
            <a:ext cx="46634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3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CBAM-Hook: 98.68% Accuracy, +0.27 điểm so với SE Baseline và +0.90 điểm so với CBAM-Local.</a:t>
            </a:r>
            <a:endParaRPr lang="en-US" sz="1430"/>
          </a:p>
        </p:txBody>
      </p:sp>
      <p:sp>
        <p:nvSpPr>
          <p:cNvPr id="37" name="Text 31"/>
          <p:cNvSpPr/>
          <p:nvPr/>
        </p:nvSpPr>
        <p:spPr>
          <a:xfrm>
            <a:off x="6035040" y="617220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2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 macro AUC trong hình: SE 0.9996, Local 0.9994, Hook 0.9998.</a:t>
            </a:r>
            <a:endParaRPr lang="en-US" sz="102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64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Grad-CAM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CBAM-Hook có xu hướng tập trung hơn vào vùng đặc trưng quan trọng.</a:t>
            </a:r>
            <a:endParaRPr lang="en-US" sz="115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965960" cy="0"/>
          </a:xfrm>
          <a:prstGeom prst="line">
            <a:avLst/>
          </a:prstGeom>
          <a:noFill/>
          <a:ln w="381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11448288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502920" y="6565392"/>
            <a:ext cx="10789920" cy="0"/>
          </a:xfrm>
          <a:prstGeom prst="line">
            <a:avLst/>
          </a:prstGeom>
          <a:noFill/>
          <a:ln w="7620">
            <a:solidFill>
              <a:srgbClr val="D4DED9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7" name="Image 0" descr="/mnt/data/v5_extract/word/media/imag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5925" y="1417320"/>
            <a:ext cx="6995389" cy="1874520"/>
          </a:xfrm>
          <a:prstGeom prst="rect">
            <a:avLst/>
          </a:prstGeom>
        </p:spPr>
      </p:pic>
      <p:pic>
        <p:nvPicPr>
          <p:cNvPr id="8" name="Image 1" descr="/mnt/data/v5_extract/word/media/image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5945" y="3593592"/>
            <a:ext cx="6675350" cy="1783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31520" y="1170432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0B6B3A"/>
          </a:solidFill>
          <a:ln w="12700">
            <a:solidFill>
              <a:srgbClr val="0B6B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" name="Text 6"/>
          <p:cNvSpPr/>
          <p:nvPr/>
        </p:nvSpPr>
        <p:spPr>
          <a:xfrm>
            <a:off x="795528" y="1211580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CIFAR-10</a:t>
            </a:r>
            <a:endParaRPr lang="en-US" sz="1050"/>
          </a:p>
        </p:txBody>
      </p:sp>
      <p:sp>
        <p:nvSpPr>
          <p:cNvPr id="11" name="Shape 7"/>
          <p:cNvSpPr/>
          <p:nvPr/>
        </p:nvSpPr>
        <p:spPr>
          <a:xfrm>
            <a:off x="731520" y="3346704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0B6B3A"/>
          </a:solidFill>
          <a:ln w="12700">
            <a:solidFill>
              <a:srgbClr val="0B6B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Text 8"/>
          <p:cNvSpPr/>
          <p:nvPr/>
        </p:nvSpPr>
        <p:spPr>
          <a:xfrm>
            <a:off x="795528" y="3387852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PlantVillage</a:t>
            </a:r>
            <a:endParaRPr lang="en-US" sz="1050"/>
          </a:p>
        </p:txBody>
      </p:sp>
      <p:sp>
        <p:nvSpPr>
          <p:cNvPr id="13" name="Text 9"/>
          <p:cNvSpPr/>
          <p:nvPr/>
        </p:nvSpPr>
        <p:spPr>
          <a:xfrm>
            <a:off x="868680" y="5669280"/>
            <a:ext cx="64008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2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 xét: SE Baseline và CBAM-Local có vùng kích hoạt phân tán hơn; CBAM-Hook tạo vùng kích hoạt tập trung rõ hơn trên các mẫu khảo sát.</a:t>
            </a:r>
            <a:endParaRPr lang="en-US" sz="1420"/>
          </a:p>
        </p:txBody>
      </p:sp>
      <p:sp>
        <p:nvSpPr>
          <p:cNvPr id="14" name="Text 10"/>
          <p:cNvSpPr/>
          <p:nvPr/>
        </p:nvSpPr>
        <p:spPr>
          <a:xfrm>
            <a:off x="7543800" y="5669280"/>
            <a:ext cx="36118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20">
                <a:solidFill>
                  <a:srgbClr val="C43C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ý: Grad-CAM là minh chứng hỗ trợ trực quan, không phải bằng chứng nhân quả tuyệt đối.</a:t>
            </a:r>
            <a:endParaRPr lang="en-US" sz="142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4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 và hướng phát triển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685800" y="1170432"/>
            <a:ext cx="1965960" cy="0"/>
          </a:xfrm>
          <a:prstGeom prst="line">
            <a:avLst/>
          </a:prstGeom>
          <a:noFill/>
          <a:ln w="381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93.68%</a:t>
            </a:r>
            <a:endParaRPr lang="en-US" sz="2700"/>
          </a:p>
        </p:txBody>
      </p:sp>
      <p:sp>
        <p:nvSpPr>
          <p:cNvPr id="5" name="Text 3"/>
          <p:cNvSpPr/>
          <p:nvPr/>
        </p:nvSpPr>
        <p:spPr>
          <a:xfrm>
            <a:off x="868680" y="20208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CIFAR-10</a:t>
            </a:r>
            <a:endParaRPr lang="en-US" sz="1150"/>
          </a:p>
        </p:txBody>
      </p:sp>
      <p:sp>
        <p:nvSpPr>
          <p:cNvPr id="6" name="Text 4"/>
          <p:cNvSpPr/>
          <p:nvPr/>
        </p:nvSpPr>
        <p:spPr>
          <a:xfrm>
            <a:off x="868680" y="2322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BBD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+0.64 so với SE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2926080" y="160020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98.68%</a:t>
            </a:r>
            <a:endParaRPr lang="en-US" sz="2700"/>
          </a:p>
        </p:txBody>
      </p:sp>
      <p:sp>
        <p:nvSpPr>
          <p:cNvPr id="8" name="Text 6"/>
          <p:cNvSpPr/>
          <p:nvPr/>
        </p:nvSpPr>
        <p:spPr>
          <a:xfrm>
            <a:off x="2926080" y="20208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PlantVillage</a:t>
            </a:r>
            <a:endParaRPr lang="en-US" sz="1150"/>
          </a:p>
        </p:txBody>
      </p:sp>
      <p:sp>
        <p:nvSpPr>
          <p:cNvPr id="9" name="Text 7"/>
          <p:cNvSpPr/>
          <p:nvPr/>
        </p:nvSpPr>
        <p:spPr>
          <a:xfrm>
            <a:off x="2926080" y="23225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BBD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+0.27 so với SE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5120640" y="160020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2.12M</a:t>
            </a:r>
            <a:endParaRPr lang="en-US" sz="2700"/>
          </a:p>
        </p:txBody>
      </p:sp>
      <p:sp>
        <p:nvSpPr>
          <p:cNvPr id="11" name="Text 9"/>
          <p:cNvSpPr/>
          <p:nvPr/>
        </p:nvSpPr>
        <p:spPr>
          <a:xfrm>
            <a:off x="5120640" y="20208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Tham số CIFAR-10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5120640" y="23225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BBD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CBAM-Hook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868680" y="3017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 chính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868680" y="3429000"/>
            <a:ext cx="534924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5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CBAM-Hook là hướng tích hợp hợp lý hơn CBAM-Local trong phạm vi thực nghiệm.</a:t>
            </a:r>
            <a:endParaRPr lang="en-US" sz="1550"/>
          </a:p>
          <a:p>
            <a:pPr marL="0" indent="0">
              <a:buNone/>
            </a:pPr>
            <a:r>
              <a:rPr lang="en-US" sz="15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Giữ SE nội khối và thêm CBAM ngoại khối giúp phân tách vai trò chú ý kênh và chú ý không gian.</a:t>
            </a:r>
            <a:endParaRPr lang="en-US" sz="1550"/>
          </a:p>
          <a:p>
            <a:pPr marL="0" indent="0">
              <a:buNone/>
            </a:pPr>
            <a:r>
              <a:rPr lang="en-US" sz="15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Kết quả cho thấy xu hướng cải thiện nhất quán trên cả CIFAR-10 và PlantVillage.</a:t>
            </a:r>
            <a:endParaRPr lang="en-US" sz="1550"/>
          </a:p>
        </p:txBody>
      </p:sp>
      <p:sp>
        <p:nvSpPr>
          <p:cNvPr id="15" name="Text 13"/>
          <p:cNvSpPr/>
          <p:nvPr/>
        </p:nvSpPr>
        <p:spPr>
          <a:xfrm>
            <a:off x="6629400" y="3017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chế &amp; hướng phát triển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6629400" y="3429000"/>
            <a:ext cx="498348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5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Cần kiểm thử thêm trên dữ liệu thực địa có nền tự nhiên, ánh sáng thay đổi, che khuất và nhiễu.</a:t>
            </a:r>
            <a:endParaRPr lang="en-US" sz="1550"/>
          </a:p>
          <a:p>
            <a:pPr marL="0" indent="0">
              <a:buNone/>
            </a:pPr>
            <a:r>
              <a:rPr lang="en-US" sz="15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Cần đo thêm thời gian suy luận, FLOPs, RAM và năng lượng trên phần cứng thực tế.</a:t>
            </a:r>
            <a:endParaRPr lang="en-US" sz="1550"/>
          </a:p>
          <a:p>
            <a:pPr marL="0" indent="0">
              <a:buNone/>
            </a:pPr>
            <a:r>
              <a:rPr lang="en-US" sz="15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Có thể kết hợp tối ưu mô hình để giảm kích thước nhưng vẫn giữ hiệu năng.</a:t>
            </a:r>
            <a:endParaRPr lang="en-US" sz="1550"/>
          </a:p>
        </p:txBody>
      </p:sp>
      <p:sp>
        <p:nvSpPr>
          <p:cNvPr id="17" name="Text 15"/>
          <p:cNvSpPr/>
          <p:nvPr/>
        </p:nvSpPr>
        <p:spPr>
          <a:xfrm>
            <a:off x="685800" y="60533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Xin cảm ơn!</a:t>
            </a:r>
            <a:endParaRPr lang="en-US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1936</Words>
  <Application>Microsoft Office PowerPoint</Application>
  <PresentationFormat>Widescreen</PresentationFormat>
  <Paragraphs>362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Trường Đại học Nông Lâm TP.HCM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thuyết trình Tiểu luận tốt nghiệp</dc:title>
  <dc:subject>Nghiên cứu cải tiến TickNets bằng CBAM</dc:subject>
  <dc:creator>OpenAI</dc:creator>
  <cp:lastModifiedBy>Tài CT</cp:lastModifiedBy>
  <cp:revision>3</cp:revision>
  <dcterms:created xsi:type="dcterms:W3CDTF">2026-08-31T07:22:56Z</dcterms:created>
  <dcterms:modified xsi:type="dcterms:W3CDTF">2026-09-01T07:14:40Z</dcterms:modified>
</cp:coreProperties>
</file>